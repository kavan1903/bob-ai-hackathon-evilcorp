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9609504dc4d435d" /><Relationship Type="http://schemas.openxmlformats.org/package/2006/relationships/metadata/core-properties" Target="/docProps/core.xml" Id="Rfe1b4c5820fc47f9" /><Relationship Type="http://schemas.openxmlformats.org/officeDocument/2006/relationships/extended-properties" Target="/docProps/app.xml" Id="R970810b4be6a455b" /><Relationship Type="http://schemas.openxmlformats.org/officeDocument/2006/relationships/custom-properties" Target="/docProps/custom.xml" Id="R5af4d50472d6417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6cf17da49593444d"/>
  </p:notesMasterIdLst>
  <p:sldIdLst>
    <p:sldId id="256" r:id="Ra44062daf01e4115"/>
    <p:sldId id="257" r:id="Rc2e034f5369e45fd"/>
    <p:sldId id="258" r:id="R965362ca4b5743c9"/>
    <p:sldId id="259" r:id="Rf19a3abd630b4277"/>
    <p:sldId id="260" r:id="R8b585147c6d04cba"/>
    <p:sldId id="261" r:id="R04edc402f3aa4fa1"/>
    <p:sldId id="262" r:id="R2088e8528b7b407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a44062daf01e4115" /><Relationship Type="http://schemas.openxmlformats.org/officeDocument/2006/relationships/notesMaster" Target="/ppt/notesMasters/notesMaster1.xml" Id="R6cf17da49593444d" /><Relationship Type="http://schemas.openxmlformats.org/officeDocument/2006/relationships/slide" Target="/ppt/slides/slide2.xml" Id="Rc2e034f5369e45fd" /><Relationship Type="http://schemas.openxmlformats.org/officeDocument/2006/relationships/slide" Target="/ppt/slides/slide3.xml" Id="R965362ca4b5743c9" /><Relationship Type="http://schemas.openxmlformats.org/officeDocument/2006/relationships/slide" Target="/ppt/slides/slide4.xml" Id="Rf19a3abd630b4277" /><Relationship Type="http://schemas.openxmlformats.org/officeDocument/2006/relationships/slide" Target="/ppt/slides/slide5.xml" Id="R8b585147c6d04cba" /><Relationship Type="http://schemas.openxmlformats.org/officeDocument/2006/relationships/slide" Target="/ppt/slides/slide6.xml" Id="R04edc402f3aa4fa1" /><Relationship Type="http://schemas.openxmlformats.org/officeDocument/2006/relationships/slide" Target="/ppt/slides/slide7.xml" Id="R2088e8528b7b40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76d346b240b461b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d276d5b38c94185" /><Relationship Type="http://schemas.openxmlformats.org/officeDocument/2006/relationships/slide" Target="/ppt/slides/slide1.xml" Id="R78c5570e8c9547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05e6f7ea3504041" /><Relationship Type="http://schemas.openxmlformats.org/officeDocument/2006/relationships/slide" Target="/ppt/slides/slide2.xml" Id="R5658d0c06ac747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adda2efd49140db" /><Relationship Type="http://schemas.openxmlformats.org/officeDocument/2006/relationships/slide" Target="/ppt/slides/slide3.xml" Id="R30be1f87a34044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afeb5585562497b" /><Relationship Type="http://schemas.openxmlformats.org/officeDocument/2006/relationships/slide" Target="/ppt/slides/slide4.xml" Id="Rb72aca6e158944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04ea0c8c4604216" /><Relationship Type="http://schemas.openxmlformats.org/officeDocument/2006/relationships/slide" Target="/ppt/slides/slide5.xml" Id="R114afeeff14d45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72d0cdd76a7487d" /><Relationship Type="http://schemas.openxmlformats.org/officeDocument/2006/relationships/slide" Target="/ppt/slides/slide6.xml" Id="Rdeac55b7c32249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2b780b9f8b74715" /><Relationship Type="http://schemas.openxmlformats.org/officeDocument/2006/relationships/slide" Target="/ppt/slides/slide7.xml" Id="R87b1be782dae41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Welcome slide. Introduce team and track. DocuVerity = Document Integrity + Certainty.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scale of fraud. Key differentiator: explainability via Likelihood Ratios. Courts reject black-box AI.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Each check maps to a forensic indicator in the INDICATORS catalogue with a calibrated Likelihood Ratio. All 5 run in parallel.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Demo the UI here. Show a real tampered image going through the pipeline and producing a scored report.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All dependencies are open-source. No paid API required for core forensics. IBM Bob and watsonx are the AI layer on top.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MCP is the key integration point. Bob orchestrates everything — the forensic CV engine is the muscle, Bob is the brain that explains and reports.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slide. Emphasise: explainability + speed + India-specific legal mapping. Open for Q&amp;A.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a7b22fbb71434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29e702864b4ae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7bd21a398147f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6c5ccefafb4c8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8c7ed511cc4d27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d64979d0807445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7fb484609447de" /><Relationship Type="http://schemas.openxmlformats.org/officeDocument/2006/relationships/notesSlide" Target="/ppt/notesSlides/notesSlide1.xml" Id="R0ed18dca0efa4b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22469cf8840aa" /><Relationship Type="http://schemas.openxmlformats.org/officeDocument/2006/relationships/notesSlide" Target="/ppt/notesSlides/notesSlide2.xml" Id="R2c4d287627824b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0b03a3be8c4664" /><Relationship Type="http://schemas.openxmlformats.org/officeDocument/2006/relationships/notesSlide" Target="/ppt/notesSlides/notesSlide3.xml" Id="R1a3d0c0e652a40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f2bee824448bd" /><Relationship Type="http://schemas.openxmlformats.org/officeDocument/2006/relationships/notesSlide" Target="/ppt/notesSlides/notesSlide4.xml" Id="Rffaa0d6722fb44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4a67391eb45fa" /><Relationship Type="http://schemas.openxmlformats.org/officeDocument/2006/relationships/notesSlide" Target="/ppt/notesSlides/notesSlide5.xml" Id="Rd4aefe89877143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7cb06f12f4f14" /><Relationship Type="http://schemas.openxmlformats.org/officeDocument/2006/relationships/notesSlide" Target="/ppt/notesSlides/notesSlide6.xml" Id="R89e9b11041ab48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d3f415beaf4d83" /><Relationship Type="http://schemas.openxmlformats.org/officeDocument/2006/relationships/notesSlide" Target="/ppt/notesSlides/notesSlide7.xml" Id="R8fd4380a595a45f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1B2A"/>
        </a:solidFill>
      </p:bgPr>
    </p:bg>
    <p:spTree>
      <p:nvGrpSpPr>
        <p:cNvPr id="1" name=""/>
        <p:cNvGrpSpPr/>
        <p:nvPr/>
      </p:nvGrpSpPr>
      <p:grpSpPr/>
      <p:sp>
        <p:nvSpPr>
          <p:cNvPr id="100000" name="TopAccent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79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600">
              <a:solidFill>
                <a:srgbClr val="2979FF"/>
              </a:solidFill>
            </a:endParaRPr>
          </a:p>
        </p:txBody>
      </p:sp>
      <p:sp>
        <p:nvSpPr>
          <p:cNvPr id="100001" name="TagChip"/>
          <p:cNvSpPr txBox="1"/>
          <p:nvPr/>
        </p:nvSpPr>
        <p:spPr>
          <a:xfrm xmlns:a="http://schemas.openxmlformats.org/drawingml/2006/main">
            <a:off x="720000" y="360000"/>
            <a:ext cx="1044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979FF"/>
                </a:solidFill>
              </a:rPr>
              <a:t>IBM × NFSU HACKATHON  |  TRACK 1 – PHYSICAL &amp; DIGITAL EVIDENCE</a:t>
            </a:r>
          </a:p>
        </p:txBody>
      </p:sp>
      <p:sp>
        <p:nvSpPr>
          <p:cNvPr id="100002" name="MainTitle"/>
          <p:cNvSpPr txBox="1"/>
          <p:nvPr/>
        </p:nvSpPr>
        <p:spPr>
          <a:xfrm xmlns:a="http://schemas.openxmlformats.org/drawingml/2006/main">
            <a:off x="720000" y="792000"/>
            <a:ext cx="1044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7200" b="1">
                <a:solidFill>
                  <a:srgbClr val="FFFFFF"/>
                </a:solidFill>
              </a:rPr>
              <a:t>DocuVerity</a:t>
            </a:r>
          </a:p>
        </p:txBody>
      </p:sp>
      <p:sp>
        <p:nvSpPr>
          <p:cNvPr id="100003" name="Subtitle"/>
          <p:cNvSpPr txBox="1"/>
          <p:nvPr/>
        </p:nvSpPr>
        <p:spPr>
          <a:xfrm xmlns:a="http://schemas.openxmlformats.org/drawingml/2006/main">
            <a:off x="720000" y="2088000"/>
            <a:ext cx="1044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0">
                <a:solidFill>
                  <a:srgbClr val="90CAF9"/>
                </a:solidFill>
              </a:rPr>
              <a:t>AI-Powered Court-Admissible Document Forensics</a:t>
            </a:r>
          </a:p>
        </p:txBody>
      </p:sp>
      <p:sp>
        <p:nvSpPr>
          <p:cNvPr id="100004" name="Divider"/>
          <p:cNvSpPr txBox="1"/>
          <p:nvPr/>
        </p:nvSpPr>
        <p:spPr>
          <a:xfrm xmlns:a="http://schemas.openxmlformats.org/drawingml/2006/main">
            <a:off x="720000" y="2628000"/>
            <a:ext cx="3600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79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600">
              <a:solidFill>
                <a:srgbClr val="2979FF"/>
              </a:solidFill>
            </a:endParaRPr>
          </a:p>
        </p:txBody>
      </p:sp>
      <p:sp>
        <p:nvSpPr>
          <p:cNvPr id="100005" name="TeamLabel"/>
          <p:cNvSpPr txBox="1"/>
          <p:nvPr/>
        </p:nvSpPr>
        <p:spPr>
          <a:xfrm xmlns:a="http://schemas.openxmlformats.org/drawingml/2006/main">
            <a:off x="720000" y="2772000"/>
            <a:ext cx="432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2979FF"/>
                </a:solidFill>
              </a:rPr>
              <a:t>TEAM  EVILCORP</a:t>
            </a:r>
          </a:p>
        </p:txBody>
      </p:sp>
      <p:sp>
        <p:nvSpPr>
          <p:cNvPr id="100006" name="Members"/>
          <p:cNvSpPr txBox="1"/>
          <p:nvPr/>
        </p:nvSpPr>
        <p:spPr>
          <a:xfrm xmlns:a="http://schemas.openxmlformats.org/drawingml/2006/main">
            <a:off x="720000" y="3060000"/>
            <a:ext cx="792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B0BEC5"/>
                </a:solidFill>
              </a:rPr>
              <a:t>[Your Name]   ·   [Member 2]   ·   [Member 3]</a:t>
            </a:r>
          </a:p>
        </p:txBody>
      </p:sp>
      <p:sp>
        <p:nvSpPr>
          <p:cNvPr id="100007" name="BottomAccent"/>
          <p:cNvSpPr txBox="1"/>
          <p:nvPr/>
        </p:nvSpPr>
        <p:spPr>
          <a:xfrm xmlns:a="http://schemas.openxmlformats.org/drawingml/2006/main">
            <a:off x="0" y="6732000"/>
            <a:ext cx="12193200" cy="1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65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600">
              <a:solidFill>
                <a:srgbClr val="1565C0"/>
              </a:solidFill>
            </a:endParaRP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D1B2A"/>
        </a:solidFill>
      </p:bgPr>
    </p:bg>
    <p:spTree>
      <p:nvGrpSpPr>
        <p:cNvPr id="1" name=""/>
        <p:cNvGrpSpPr/>
        <p:nvPr/>
      </p:nvGrpSpPr>
      <p:grpSpPr/>
      <p:sp>
        <p:nvSpPr>
          <p:cNvPr id="100008" name="TopAccent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79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600">
              <a:solidFill>
                <a:srgbClr val="2979FF"/>
              </a:solidFill>
            </a:endParaRPr>
          </a:p>
        </p:txBody>
      </p:sp>
      <p:sp>
        <p:nvSpPr>
          <p:cNvPr id="100009" name="SlideNum"/>
          <p:cNvSpPr txBox="1"/>
          <p:nvPr/>
        </p:nvSpPr>
        <p:spPr>
          <a:xfrm xmlns:a="http://schemas.openxmlformats.org/drawingml/2006/main">
            <a:off x="10800000" y="216000"/>
            <a:ext cx="10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979FF"/>
                </a:solidFill>
              </a:rPr>
              <a:t>02</a:t>
            </a:r>
          </a:p>
        </p:txBody>
      </p:sp>
      <p:sp>
        <p:nvSpPr>
          <p:cNvPr id="100010" name="Title"/>
          <p:cNvSpPr txBox="1"/>
          <p:nvPr/>
        </p:nvSpPr>
        <p:spPr>
          <a:xfrm xmlns:a="http://schemas.openxmlformats.org/drawingml/2006/main">
            <a:off x="720000" y="288000"/>
            <a:ext cx="93600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</a:rPr>
              <a:t>The Problem &amp; Our Solution</a:t>
            </a:r>
          </a:p>
        </p:txBody>
      </p:sp>
      <p:sp>
        <p:nvSpPr>
          <p:cNvPr id="100011" name="ProblemBox"/>
          <p:cNvSpPr txBox="1"/>
          <p:nvPr/>
        </p:nvSpPr>
        <p:spPr>
          <a:xfrm xmlns:a="http://schemas.openxmlformats.org/drawingml/2006/main">
            <a:off x="540000" y="936000"/>
            <a:ext cx="5220000" cy="28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82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100012" name="ProblemBody"/>
          <p:cNvSpPr txBox="1"/>
          <p:nvPr/>
        </p:nvSpPr>
        <p:spPr>
          <a:xfrm xmlns:a="http://schemas.openxmlformats.org/drawingml/2006/main">
            <a:off x="540000" y="1260000"/>
            <a:ext cx="5220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0A0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FFCDD2"/>
                </a:solidFill>
              </a:rPr>
              <a:t>⚠  3,000+ fake degrees in 2022 alone — plus forged COVID certificates and property documents flooding courts</a:t>
            </a:r>
          </a:p>
          <a:p xmlns:a="http://schemas.openxmlformats.org/drawingml/2006/main">
            <a:r>
              <a:rPr lang="en-US" sz="1600" b="0">
                <a:solidFill>
                  <a:srgbClr val="FFCDD2"/>
                </a:solidFill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FFCDD2"/>
                </a:solidFill>
              </a:rPr>
              <a:t>⚠  Current forensic verification is 100% manual, subjective and slow — examiners take days per document</a:t>
            </a:r>
          </a:p>
          <a:p xmlns:a="http://schemas.openxmlformats.org/drawingml/2006/main">
            <a:r>
              <a:rPr lang="en-US" sz="1600" b="0">
                <a:solidFill>
                  <a:srgbClr val="FFCDD2"/>
                </a:solidFill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FFCDD2"/>
                </a:solidFill>
              </a:rPr>
              <a:t>⚠  Modern digital forgeries (metadata spoofing, copy-pasted signatures, ELA-invisible edits) defeat traditional methods</a:t>
            </a:r>
          </a:p>
          <a:p xmlns:a="http://schemas.openxmlformats.org/drawingml/2006/main">
            <a:r>
              <a:rPr lang="en-US" sz="1600" b="0">
                <a:solidFill>
                  <a:srgbClr val="FFCDD2"/>
                </a:solidFill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FFCDD2"/>
                </a:solidFill>
              </a:rPr>
              <a:t>⚠  AI black-box verdicts are inadmissible in court — judges need a reasoned, explainable expert opinion</a:t>
            </a:r>
          </a:p>
        </p:txBody>
      </p:sp>
      <p:sp>
        <p:nvSpPr>
          <p:cNvPr id="100013" name="SolutionBox"/>
          <p:cNvSpPr txBox="1"/>
          <p:nvPr/>
        </p:nvSpPr>
        <p:spPr>
          <a:xfrm xmlns:a="http://schemas.openxmlformats.org/drawingml/2006/main">
            <a:off x="6300000" y="936000"/>
            <a:ext cx="5220000" cy="28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65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1">
                <a:solidFill>
                  <a:srgbClr val="FFFFFF"/>
                </a:solidFill>
              </a:rPr>
              <a:t>OUR SOLUTION — DOCUVERIFY</a:t>
            </a:r>
          </a:p>
        </p:txBody>
      </p:sp>
      <p:sp>
        <p:nvSpPr>
          <p:cNvPr id="100014" name="SolutionBody"/>
          <p:cNvSpPr txBox="1"/>
          <p:nvPr/>
        </p:nvSpPr>
        <p:spPr>
          <a:xfrm xmlns:a="http://schemas.openxmlformats.org/drawingml/2006/main">
            <a:off x="6300000" y="1260000"/>
            <a:ext cx="5220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92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BBDEFB"/>
                </a:solidFill>
              </a:rPr>
              <a:t>✅  Bob-powered guided examination workflow — fully automated, zero manual steps</a:t>
            </a:r>
          </a:p>
          <a:p xmlns:a="http://schemas.openxmlformats.org/drawingml/2006/main">
            <a:r>
              <a:rPr lang="en-US" sz="1600" b="0">
                <a:solidFill>
                  <a:srgbClr val="BBDEFB"/>
                </a:solidFill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BBDEFB"/>
                </a:solidFill>
              </a:rPr>
              <a:t>✅  5 parallel forensic checks run in seconds, not days</a:t>
            </a:r>
          </a:p>
          <a:p xmlns:a="http://schemas.openxmlformats.org/drawingml/2006/main">
            <a:r>
              <a:rPr lang="en-US" sz="1600" b="0">
                <a:solidFill>
                  <a:srgbClr val="BBDEFB"/>
                </a:solidFill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BBDEFB"/>
                </a:solidFill>
              </a:rPr>
              <a:t>✅  Mathematically explainable Likelihood Ratios (LR) — not a black-box score</a:t>
            </a:r>
          </a:p>
          <a:p xmlns:a="http://schemas.openxmlformats.org/drawingml/2006/main">
            <a:r>
              <a:rPr lang="en-US" sz="1600" b="0">
                <a:solidFill>
                  <a:srgbClr val="BBDEFB"/>
                </a:solidFill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BBDEFB"/>
                </a:solidFill>
              </a:rPr>
              <a:t>✅  Auto-generates court-admissible expert opinion reports mapped to Bhartiya Sakshya Adhiniyam, 2023</a:t>
            </a:r>
          </a:p>
        </p:txBody>
      </p:sp>
      <p:sp>
        <p:nvSpPr>
          <p:cNvPr id="100015" name="WinNote"/>
          <p:cNvSpPr txBox="1"/>
          <p:nvPr/>
        </p:nvSpPr>
        <p:spPr>
          <a:xfrm xmlns:a="http://schemas.openxmlformats.org/drawingml/2006/main">
            <a:off x="540000" y="4320000"/>
            <a:ext cx="10800000" cy="4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2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FD54F"/>
                </a:solidFill>
              </a:rPr>
              <a:t>🏆  WHY IT WINS:  Courts require explainability — our LR framework is the same standard used by forensic experts worldwide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1B2A"/>
        </a:solidFill>
      </p:bgPr>
    </p:bg>
    <p:spTree>
      <p:nvGrpSpPr>
        <p:cNvPr id="1" name=""/>
        <p:cNvGrpSpPr/>
        <p:nvPr/>
      </p:nvGrpSpPr>
      <p:grpSpPr/>
      <p:sp>
        <p:nvSpPr>
          <p:cNvPr id="100016" name="TopAccent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79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600">
              <a:solidFill>
                <a:srgbClr val="2979FF"/>
              </a:solidFill>
            </a:endParaRPr>
          </a:p>
        </p:txBody>
      </p:sp>
      <p:sp>
        <p:nvSpPr>
          <p:cNvPr id="100017" name="SlideNum"/>
          <p:cNvSpPr txBox="1"/>
          <p:nvPr/>
        </p:nvSpPr>
        <p:spPr>
          <a:xfrm xmlns:a="http://schemas.openxmlformats.org/drawingml/2006/main">
            <a:off x="10800000" y="216000"/>
            <a:ext cx="10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979FF"/>
                </a:solidFill>
              </a:rPr>
              <a:t>03</a:t>
            </a:r>
          </a:p>
        </p:txBody>
      </p:sp>
      <p:sp>
        <p:nvSpPr>
          <p:cNvPr id="100018" name="Title"/>
          <p:cNvSpPr txBox="1"/>
          <p:nvPr/>
        </p:nvSpPr>
        <p:spPr>
          <a:xfrm xmlns:a="http://schemas.openxmlformats.org/drawingml/2006/main">
            <a:off x="720000" y="288000"/>
            <a:ext cx="100800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</a:rPr>
              <a:t>The Input — 5 Parallel Forensic Checks</a:t>
            </a:r>
          </a:p>
        </p:txBody>
      </p:sp>
      <p:sp>
        <p:nvSpPr>
          <p:cNvPr id="100019" name="InputLabel"/>
          <p:cNvSpPr txBox="1"/>
          <p:nvPr/>
        </p:nvSpPr>
        <p:spPr>
          <a:xfrm xmlns:a="http://schemas.openxmlformats.org/drawingml/2006/main">
            <a:off x="720000" y="864000"/>
            <a:ext cx="100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90CAF9"/>
                </a:solidFill>
              </a:rPr>
              <a:t>↑  Upload: PDF or Image (JPG / PNG / TIFF)</a:t>
            </a:r>
          </a:p>
        </p:txBody>
      </p:sp>
      <p:sp>
        <p:nvSpPr>
          <p:cNvPr id="100020" name="C1"/>
          <p:cNvSpPr txBox="1"/>
          <p:nvPr/>
        </p:nvSpPr>
        <p:spPr>
          <a:xfrm xmlns:a="http://schemas.openxmlformats.org/drawingml/2006/main">
            <a:off x="540000" y="1188000"/>
            <a:ext cx="378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01  DIGITAL METADATA</a:t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(EXIF / ELA)</a:t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Detects hidden incremental saves, mod dates after issue date, mismatched JPEG compression grids, editing software in EXIF (Photoshop / iLovePDF)</a:t>
            </a:r>
          </a:p>
        </p:txBody>
      </p:sp>
      <p:sp>
        <p:nvSpPr>
          <p:cNvPr id="100021" name="C2"/>
          <p:cNvSpPr txBox="1"/>
          <p:nvPr/>
        </p:nvSpPr>
        <p:spPr>
          <a:xfrm xmlns:a="http://schemas.openxmlformats.org/drawingml/2006/main">
            <a:off x="4680000" y="1188000"/>
            <a:ext cx="360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02  FONT INCONSISTENCIES</a:t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(OpenCV)</a:t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Hough-line edge detection flags misaligned text baselines and characters retyped in a different typeface — indicates pasted / inserted text</a:t>
            </a:r>
          </a:p>
        </p:txBody>
      </p:sp>
      <p:sp>
        <p:nvSpPr>
          <p:cNvPr id="100022" name="C3"/>
          <p:cNvSpPr txBox="1"/>
          <p:nvPr/>
        </p:nvSpPr>
        <p:spPr>
          <a:xfrm xmlns:a="http://schemas.openxmlformats.org/drawingml/2006/main">
            <a:off x="8640000" y="1188000"/>
            <a:ext cx="342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03  PAPER ANOMALIES</a:t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(Laplacian)</a:t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Laplacian variance detects artificial background smoothing from digital erasure or white-out; noise-map tiling flags pasted paper patches</a:t>
            </a:r>
          </a:p>
        </p:txBody>
      </p:sp>
      <p:sp>
        <p:nvSpPr>
          <p:cNvPr id="100023" name="C4"/>
          <p:cNvSpPr txBox="1"/>
          <p:nvPr/>
        </p:nvSpPr>
        <p:spPr>
          <a:xfrm xmlns:a="http://schemas.openxmlformats.org/drawingml/2006/main">
            <a:off x="540000" y="3600000"/>
            <a:ext cx="5400000" cy="19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04  SIGNATURE MISMATCH</a:t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(Contour + Feature Matching)</a:t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Contour isolation detects transplanted PNG signatures (perfect black, no ink variation); feature distance flags freehand forgeries vs exemplar</a:t>
            </a:r>
          </a:p>
        </p:txBody>
      </p:sp>
      <p:sp>
        <p:nvSpPr>
          <p:cNvPr id="100024" name="C5"/>
          <p:cNvSpPr txBox="1"/>
          <p:nvPr/>
        </p:nvSpPr>
        <p:spPr>
          <a:xfrm xmlns:a="http://schemas.openxmlformats.org/drawingml/2006/main">
            <a:off x="6300000" y="3600000"/>
            <a:ext cx="5760000" cy="19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05  INK SPREAD</a:t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(Sobel Gradient)</a:t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E3F2FD"/>
                </a:solidFill>
              </a:rPr>
              <a:t>Sobel gradient analysis distinguishes sharp digital anti-aliased ink (forgery) from naturally bleeding physical ink — catches digitally inserted text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1B2A"/>
        </a:solidFill>
      </p:bgPr>
    </p:bg>
    <p:spTree>
      <p:nvGrpSpPr>
        <p:cNvPr id="1" name=""/>
        <p:cNvGrpSpPr/>
        <p:nvPr/>
      </p:nvGrpSpPr>
      <p:grpSpPr/>
      <p:sp>
        <p:nvSpPr>
          <p:cNvPr id="100025" name="TopAccent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79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600">
              <a:solidFill>
                <a:srgbClr val="2979FF"/>
              </a:solidFill>
            </a:endParaRPr>
          </a:p>
        </p:txBody>
      </p:sp>
      <p:sp>
        <p:nvSpPr>
          <p:cNvPr id="100026" name="SlideNum"/>
          <p:cNvSpPr txBox="1"/>
          <p:nvPr/>
        </p:nvSpPr>
        <p:spPr>
          <a:xfrm xmlns:a="http://schemas.openxmlformats.org/drawingml/2006/main">
            <a:off x="10800000" y="216000"/>
            <a:ext cx="10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979FF"/>
                </a:solidFill>
              </a:rPr>
              <a:t>04</a:t>
            </a:r>
          </a:p>
        </p:txBody>
      </p:sp>
      <p:sp>
        <p:nvSpPr>
          <p:cNvPr id="100027" name="Title"/>
          <p:cNvSpPr txBox="1"/>
          <p:nvPr/>
        </p:nvSpPr>
        <p:spPr>
          <a:xfrm xmlns:a="http://schemas.openxmlformats.org/drawingml/2006/main">
            <a:off x="720000" y="288000"/>
            <a:ext cx="100800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</a:rPr>
              <a:t>The Output &amp; Validation</a:t>
            </a:r>
          </a:p>
        </p:txBody>
      </p:sp>
      <p:sp>
        <p:nvSpPr>
          <p:cNvPr id="100028" name="OutLabel"/>
          <p:cNvSpPr txBox="1"/>
          <p:nvPr/>
        </p:nvSpPr>
        <p:spPr>
          <a:xfrm xmlns:a="http://schemas.openxmlformats.org/drawingml/2006/main">
            <a:off x="720000" y="900000"/>
            <a:ext cx="540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2979FF"/>
                </a:solidFill>
              </a:rPr>
              <a:t>What the Investigator Sees</a:t>
            </a:r>
          </a:p>
        </p:txBody>
      </p:sp>
      <p:sp>
        <p:nvSpPr>
          <p:cNvPr id="100029" name="O1"/>
          <p:cNvSpPr txBox="1"/>
          <p:nvPr/>
        </p:nvSpPr>
        <p:spPr>
          <a:xfrm xmlns:a="http://schemas.openxmlformats.org/drawingml/2006/main">
            <a:off x="720000" y="1224000"/>
            <a:ext cx="54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🎯  Triage Score</a:t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Combined Likelihood Ratio expressed as 0–100 (e.g. 99.8/100 — Strong evidence of forgery)</a:t>
            </a:r>
          </a:p>
        </p:txBody>
      </p:sp>
      <p:sp>
        <p:nvSpPr>
          <p:cNvPr id="100030" name="O2"/>
          <p:cNvSpPr txBox="1"/>
          <p:nvPr/>
        </p:nvSpPr>
        <p:spPr>
          <a:xfrm xmlns:a="http://schemas.openxmlformats.org/drawingml/2006/main">
            <a:off x="720000" y="2196000"/>
            <a:ext cx="54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🔍  Explainable Findings</a:t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Every flag names the exact anomaly: "Software: iLovePDF detected in EXIF" · "Baseline misalignment in line 3"</a:t>
            </a:r>
          </a:p>
        </p:txBody>
      </p:sp>
      <p:sp>
        <p:nvSpPr>
          <p:cNvPr id="100031" name="O3"/>
          <p:cNvSpPr txBox="1"/>
          <p:nvPr/>
        </p:nvSpPr>
        <p:spPr>
          <a:xfrm xmlns:a="http://schemas.openxmlformats.org/drawingml/2006/main">
            <a:off x="720000" y="3168000"/>
            <a:ext cx="54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⚖  Legal Mapping</a:t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Auto-mapped to Bhartiya Sakshya Adhiniyam 2023 s.63, BNS 2023 ss. 336–340 (forgery offences)</a:t>
            </a:r>
          </a:p>
        </p:txBody>
      </p:sp>
      <p:sp>
        <p:nvSpPr>
          <p:cNvPr id="100032" name="O4"/>
          <p:cNvSpPr txBox="1"/>
          <p:nvPr/>
        </p:nvSpPr>
        <p:spPr>
          <a:xfrm xmlns:a="http://schemas.openxmlformats.org/drawingml/2006/main">
            <a:off x="720000" y="4140000"/>
            <a:ext cx="5400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📄  Draft Court Report</a:t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Markdown forensic report with LR table, classification, recommended further examinations and examiner declaration</a:t>
            </a:r>
          </a:p>
        </p:txBody>
      </p:sp>
      <p:sp>
        <p:nvSpPr>
          <p:cNvPr id="100033" name="ValLabel"/>
          <p:cNvSpPr txBox="1"/>
          <p:nvPr/>
        </p:nvSpPr>
        <p:spPr>
          <a:xfrm xmlns:a="http://schemas.openxmlformats.org/drawingml/2006/main">
            <a:off x="6660000" y="900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2979FF"/>
                </a:solidFill>
              </a:rPr>
              <a:t>Validation</a:t>
            </a:r>
          </a:p>
        </p:txBody>
      </p:sp>
      <p:sp>
        <p:nvSpPr>
          <p:cNvPr id="100034" name="Val1"/>
          <p:cNvSpPr txBox="1"/>
          <p:nvPr/>
        </p:nvSpPr>
        <p:spPr>
          <a:xfrm xmlns:a="http://schemas.openxmlformats.org/drawingml/2006/main">
            <a:off x="6660000" y="1224000"/>
            <a:ext cx="4680000" cy="12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01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C8E6C9"/>
                </a:solidFill>
              </a:rPr>
              <a:t>📊  CG-1050 Dataset</a:t>
            </a:r>
          </a:p>
          <a:p xmlns:a="http://schemas.openxmlformats.org/drawingml/2006/main">
            <a:r>
              <a:rPr lang="en-US" sz="1500" b="0">
                <a:solidFill>
                  <a:srgbClr val="C8E6C9"/>
                </a:solidFill>
              </a:rPr>
              <a:t>1,460 images (730 original + 730 tampered)</a:t>
            </a:r>
          </a:p>
          <a:p xmlns:a="http://schemas.openxmlformats.org/drawingml/2006/main">
            <a:r>
              <a:rPr lang="en-US" sz="1500" b="0">
                <a:solidFill>
                  <a:srgbClr val="C8E6C9"/>
                </a:solidFill>
              </a:rPr>
              <a:t>All 5 feature columns extracted — flag rates validated per tamper type</a:t>
            </a:r>
          </a:p>
        </p:txBody>
      </p:sp>
      <p:sp>
        <p:nvSpPr>
          <p:cNvPr id="100035" name="Val2"/>
          <p:cNvSpPr txBox="1"/>
          <p:nvPr/>
        </p:nvSpPr>
        <p:spPr>
          <a:xfrm xmlns:a="http://schemas.openxmlformats.org/drawingml/2006/main">
            <a:off x="6660000" y="2592000"/>
            <a:ext cx="4680000" cy="10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01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C8E6C9"/>
                </a:solidFill>
              </a:rPr>
              <a:t>🆔  MIDV-2020 Gov ID Dataset</a:t>
            </a:r>
          </a:p>
          <a:p xmlns:a="http://schemas.openxmlformats.org/drawingml/2006/main">
            <a:r>
              <a:rPr lang="en-US" sz="1500" b="0">
                <a:solidFill>
                  <a:srgbClr val="C8E6C9"/>
                </a:solidFill>
              </a:rPr>
              <a:t>Tested on government identity documents across multiple countries</a:t>
            </a:r>
          </a:p>
        </p:txBody>
      </p:sp>
      <p:sp>
        <p:nvSpPr>
          <p:cNvPr id="100036" name="Val3"/>
          <p:cNvSpPr txBox="1"/>
          <p:nvPr/>
        </p:nvSpPr>
        <p:spPr>
          <a:xfrm xmlns:a="http://schemas.openxmlformats.org/drawingml/2006/main">
            <a:off x="6660000" y="3672000"/>
            <a:ext cx="4680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0E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FFE0B2"/>
                </a:solidFill>
              </a:rPr>
              <a:t>🏛  Court Standard</a:t>
            </a:r>
          </a:p>
          <a:p xmlns:a="http://schemas.openxmlformats.org/drawingml/2006/main">
            <a:r>
              <a:rPr lang="en-US" sz="1500" b="0">
                <a:solidFill>
                  <a:srgbClr val="FFE0B2"/>
                </a:solidFill>
              </a:rPr>
              <a:t>Likelihood Ratio framework matches ENFSI guideline for evaluative reporting — same methodology as fingerprint examiners</a:t>
            </a:r>
          </a:p>
        </p:txBody>
      </p:sp>
      <p:sp>
        <p:nvSpPr>
          <p:cNvPr id="100037" name="Screenshot"/>
          <p:cNvSpPr txBox="1"/>
          <p:nvPr/>
        </p:nvSpPr>
        <p:spPr>
          <a:xfrm xmlns:a="http://schemas.openxmlformats.org/drawingml/2006/main">
            <a:off x="6660000" y="4824000"/>
            <a:ext cx="4680000" cy="7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92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546E7A"/>
                </a:solidFill>
              </a:rPr>
              <a:t>[ Insert UI screenshot here ]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1B2A"/>
        </a:solidFill>
      </p:bgPr>
    </p:bg>
    <p:spTree>
      <p:nvGrpSpPr>
        <p:cNvPr id="1" name=""/>
        <p:cNvGrpSpPr/>
        <p:nvPr/>
      </p:nvGrpSpPr>
      <p:grpSpPr/>
      <p:sp>
        <p:nvSpPr>
          <p:cNvPr id="100038" name="TopAccent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79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600">
              <a:solidFill>
                <a:srgbClr val="2979FF"/>
              </a:solidFill>
            </a:endParaRPr>
          </a:p>
        </p:txBody>
      </p:sp>
      <p:sp>
        <p:nvSpPr>
          <p:cNvPr id="100039" name="SlideNum"/>
          <p:cNvSpPr txBox="1"/>
          <p:nvPr/>
        </p:nvSpPr>
        <p:spPr>
          <a:xfrm xmlns:a="http://schemas.openxmlformats.org/drawingml/2006/main">
            <a:off x="10800000" y="216000"/>
            <a:ext cx="10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979FF"/>
                </a:solidFill>
              </a:rPr>
              <a:t>05</a:t>
            </a:r>
          </a:p>
        </p:txBody>
      </p:sp>
      <p:sp>
        <p:nvSpPr>
          <p:cNvPr id="100040" name="Title"/>
          <p:cNvSpPr txBox="1"/>
          <p:nvPr/>
        </p:nvSpPr>
        <p:spPr>
          <a:xfrm xmlns:a="http://schemas.openxmlformats.org/drawingml/2006/main">
            <a:off x="720000" y="288000"/>
            <a:ext cx="100800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100041" name="Cat1Head"/>
          <p:cNvSpPr txBox="1"/>
          <p:nvPr/>
        </p:nvSpPr>
        <p:spPr>
          <a:xfrm xmlns:a="http://schemas.openxmlformats.org/drawingml/2006/main">
            <a:off x="540000" y="936000"/>
            <a:ext cx="3600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65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1">
                <a:solidFill>
                  <a:srgbClr val="FFFFFF"/>
                </a:solidFill>
              </a:rPr>
              <a:t>COMPUTER VISION CORE</a:t>
            </a:r>
          </a:p>
        </p:txBody>
      </p:sp>
      <p:sp>
        <p:nvSpPr>
          <p:cNvPr id="100042" name="Cat1Body"/>
          <p:cNvSpPr txBox="1"/>
          <p:nvPr/>
        </p:nvSpPr>
        <p:spPr>
          <a:xfrm xmlns:a="http://schemas.openxmlformats.org/drawingml/2006/main">
            <a:off x="540000" y="1224000"/>
            <a:ext cx="3600000" cy="18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92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>OpenCV 4  –  edge detection, Hough lines, Sobel, Laplacian, contour analysis</a:t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>Pillow / PIL  –  image I/O, ELA re-compression</a:t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>NumPy / SciPy  –  numerical forensics, Otsu threshold, distance transforms</a:t>
            </a:r>
          </a:p>
        </p:txBody>
      </p:sp>
      <p:sp>
        <p:nvSpPr>
          <p:cNvPr id="100043" name="Cat2Head"/>
          <p:cNvSpPr txBox="1"/>
          <p:nvPr/>
        </p:nvSpPr>
        <p:spPr>
          <a:xfrm xmlns:a="http://schemas.openxmlformats.org/drawingml/2006/main">
            <a:off x="4500000" y="936000"/>
            <a:ext cx="3600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65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1">
                <a:solidFill>
                  <a:srgbClr val="FFFFFF"/>
                </a:solidFill>
              </a:rPr>
              <a:t>DOCUMENT PARSING</a:t>
            </a:r>
          </a:p>
        </p:txBody>
      </p:sp>
      <p:sp>
        <p:nvSpPr>
          <p:cNvPr id="100044" name="Cat2Body"/>
          <p:cNvSpPr txBox="1"/>
          <p:nvPr/>
        </p:nvSpPr>
        <p:spPr>
          <a:xfrm xmlns:a="http://schemas.openxmlformats.org/drawingml/2006/main">
            <a:off x="4500000" y="1224000"/>
            <a:ext cx="3600000" cy="18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92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>pypdf  –  PDF incremental-save history, XMP vs Info metadata</a:t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>ExifTags (PIL)  –  EXIF software &amp; date extraction</a:t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>Custom layout engine  –  word segmentation, glyph twins, stroke-width measurement</a:t>
            </a:r>
          </a:p>
        </p:txBody>
      </p:sp>
      <p:sp>
        <p:nvSpPr>
          <p:cNvPr id="100045" name="Cat3Head"/>
          <p:cNvSpPr txBox="1"/>
          <p:nvPr/>
        </p:nvSpPr>
        <p:spPr>
          <a:xfrm xmlns:a="http://schemas.openxmlformats.org/drawingml/2006/main">
            <a:off x="8460000" y="936000"/>
            <a:ext cx="3600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65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1">
                <a:solidFill>
                  <a:srgbClr val="FFFFFF"/>
                </a:solidFill>
              </a:rPr>
              <a:t>SCORING ENGINE</a:t>
            </a:r>
          </a:p>
        </p:txBody>
      </p:sp>
      <p:sp>
        <p:nvSpPr>
          <p:cNvPr id="100046" name="Cat3Body"/>
          <p:cNvSpPr txBox="1"/>
          <p:nvPr/>
        </p:nvSpPr>
        <p:spPr>
          <a:xfrm xmlns:a="http://schemas.openxmlformats.org/drawingml/2006/main">
            <a:off x="8460000" y="1224000"/>
            <a:ext cx="3600000" cy="18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92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>Bayesian Likelihood Ratio (LR) framework — P(finding | forged) / P(finding | genuine)</a:t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>Category damping — correlated indicators within same category are weighted down</a:t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/>
            </a:r>
          </a:p>
          <a:p xmlns:a="http://schemas.openxmlformats.org/drawingml/2006/main">
            <a:r>
              <a:rPr lang="en-US" sz="1400" b="0">
                <a:solidFill>
                  <a:srgbClr val="BBDEFB"/>
                </a:solidFill>
              </a:rPr>
              <a:t>Combined log₁₀ LR → Triage Score (0–100)</a:t>
            </a:r>
          </a:p>
        </p:txBody>
      </p:sp>
      <p:sp>
        <p:nvSpPr>
          <p:cNvPr id="100047" name="Cat4Head"/>
          <p:cNvSpPr txBox="1"/>
          <p:nvPr/>
        </p:nvSpPr>
        <p:spPr>
          <a:xfrm xmlns:a="http://schemas.openxmlformats.org/drawingml/2006/main">
            <a:off x="540000" y="3348000"/>
            <a:ext cx="5400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9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1">
                <a:solidFill>
                  <a:srgbClr val="FFFFFF"/>
                </a:solidFill>
              </a:rPr>
              <a:t>BACKEND &amp; API</a:t>
            </a:r>
          </a:p>
        </p:txBody>
      </p:sp>
      <p:sp>
        <p:nvSpPr>
          <p:cNvPr id="100048" name="Cat4Body"/>
          <p:cNvSpPr txBox="1"/>
          <p:nvPr/>
        </p:nvSpPr>
        <p:spPr>
          <a:xfrm xmlns:a="http://schemas.openxmlformats.org/drawingml/2006/main">
            <a:off x="540000" y="3636000"/>
            <a:ext cx="540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01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B2DFDB"/>
                </a:solidFill>
              </a:rPr>
              <a:t>Python 3.11+  FastAPI / Flask app layer</a:t>
            </a:r>
          </a:p>
          <a:p xmlns:a="http://schemas.openxmlformats.org/drawingml/2006/main">
            <a:r>
              <a:rPr lang="en-US" sz="1400" b="0">
                <a:solidFill>
                  <a:srgbClr val="B2DFDB"/>
                </a:solidFill>
              </a:rPr>
              <a:t>MCP Server (Model Context Protocol) — exposes forensic tools to Bob AI agent</a:t>
            </a:r>
          </a:p>
          <a:p xmlns:a="http://schemas.openxmlformats.org/drawingml/2006/main">
            <a:r>
              <a:rPr lang="en-US" sz="1400" b="0">
                <a:solidFill>
                  <a:srgbClr val="B2DFDB"/>
                </a:solidFill>
              </a:rPr>
              <a:t>REST endpoints: /analyze, /report, /checklist</a:t>
            </a:r>
          </a:p>
        </p:txBody>
      </p:sp>
      <p:sp>
        <p:nvSpPr>
          <p:cNvPr id="100049" name="Cat5Head"/>
          <p:cNvSpPr txBox="1"/>
          <p:nvPr/>
        </p:nvSpPr>
        <p:spPr>
          <a:xfrm xmlns:a="http://schemas.openxmlformats.org/drawingml/2006/main">
            <a:off x="6300000" y="3348000"/>
            <a:ext cx="5400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9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1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100050" name="Cat5Body"/>
          <p:cNvSpPr txBox="1"/>
          <p:nvPr/>
        </p:nvSpPr>
        <p:spPr>
          <a:xfrm xmlns:a="http://schemas.openxmlformats.org/drawingml/2006/main">
            <a:off x="6300000" y="3636000"/>
            <a:ext cx="540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01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B2DFDB"/>
                </a:solidFill>
              </a:rPr>
              <a:t>React / Streamlit UI — drag-and-drop upload, live annotated evidence PNG</a:t>
            </a:r>
          </a:p>
          <a:p xmlns:a="http://schemas.openxmlformats.org/drawingml/2006/main">
            <a:r>
              <a:rPr lang="en-US" sz="1400" b="0">
                <a:solidFill>
                  <a:srgbClr val="B2DFDB"/>
                </a:solidFill>
              </a:rPr>
              <a:t>Annotated bounding boxes per category (colour-coded: red=font, purple=signature, orange=paper, blue=ink, grey=digital)</a:t>
            </a:r>
          </a:p>
          <a:p xmlns:a="http://schemas.openxmlformats.org/drawingml/2006/main">
            <a:r>
              <a:rPr lang="en-US" sz="1400" b="0">
                <a:solidFill>
                  <a:srgbClr val="B2DFDB"/>
                </a:solidFill>
              </a:rPr>
              <a:t>Markdown report viewer + PDF export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1B2A"/>
        </a:solidFill>
      </p:bgPr>
    </p:bg>
    <p:spTree>
      <p:nvGrpSpPr>
        <p:cNvPr id="1" name=""/>
        <p:cNvGrpSpPr/>
        <p:nvPr/>
      </p:nvGrpSpPr>
      <p:grpSpPr/>
      <p:sp>
        <p:nvSpPr>
          <p:cNvPr id="100051" name="TopAccent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79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600">
              <a:solidFill>
                <a:srgbClr val="2979FF"/>
              </a:solidFill>
            </a:endParaRPr>
          </a:p>
        </p:txBody>
      </p:sp>
      <p:sp>
        <p:nvSpPr>
          <p:cNvPr id="100052" name="SlideNum"/>
          <p:cNvSpPr txBox="1"/>
          <p:nvPr/>
        </p:nvSpPr>
        <p:spPr>
          <a:xfrm xmlns:a="http://schemas.openxmlformats.org/drawingml/2006/main">
            <a:off x="10800000" y="216000"/>
            <a:ext cx="10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979FF"/>
                </a:solidFill>
              </a:rPr>
              <a:t>06</a:t>
            </a:r>
          </a:p>
        </p:txBody>
      </p:sp>
      <p:sp>
        <p:nvSpPr>
          <p:cNvPr id="100053" name="Title"/>
          <p:cNvSpPr txBox="1"/>
          <p:nvPr/>
        </p:nvSpPr>
        <p:spPr>
          <a:xfrm xmlns:a="http://schemas.openxmlformats.org/drawingml/2006/main">
            <a:off x="720000" y="288000"/>
            <a:ext cx="100800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</a:rPr>
              <a:t>IBM Bob + MCP  —  The AI Brain</a:t>
            </a:r>
          </a:p>
        </p:txBody>
      </p:sp>
      <p:sp>
        <p:nvSpPr>
          <p:cNvPr id="100054" name="MCPLabel"/>
          <p:cNvSpPr txBox="1"/>
          <p:nvPr/>
        </p:nvSpPr>
        <p:spPr>
          <a:xfrm xmlns:a="http://schemas.openxmlformats.org/drawingml/2006/main">
            <a:off x="720000" y="936000"/>
            <a:ext cx="50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1">
                <a:solidFill>
                  <a:srgbClr val="2979FF"/>
                </a:solidFill>
              </a:rPr>
              <a:t>What is MCP?</a:t>
            </a:r>
          </a:p>
        </p:txBody>
      </p:sp>
      <p:sp>
        <p:nvSpPr>
          <p:cNvPr id="100055" name="MCPBody"/>
          <p:cNvSpPr txBox="1"/>
          <p:nvPr/>
        </p:nvSpPr>
        <p:spPr>
          <a:xfrm xmlns:a="http://schemas.openxmlformats.org/drawingml/2006/main">
            <a:off x="720000" y="1260000"/>
            <a:ext cx="5040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92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BBDEFB"/>
                </a:solidFill>
              </a:rPr>
              <a:t>Model Context Protocol (MCP) is IBM Bob's plugin standard — it lets Bob call our forensic tools like a human expert calling a lab.</a:t>
            </a:r>
          </a:p>
          <a:p xmlns:a="http://schemas.openxmlformats.org/drawingml/2006/main">
            <a:r>
              <a:rPr lang="en-US" sz="1500" b="0">
                <a:solidFill>
                  <a:srgbClr val="BBDEFB"/>
                </a:solidFill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BBDEFB"/>
                </a:solidFill>
              </a:rPr>
              <a:t>Our MCP server registers 6 tools:</a:t>
            </a:r>
          </a:p>
          <a:p xmlns:a="http://schemas.openxmlformats.org/drawingml/2006/main">
            <a:r>
              <a:rPr lang="en-US" sz="1500" b="0">
                <a:solidFill>
                  <a:srgbClr val="BBDEFB"/>
                </a:solidFill>
              </a:rPr>
              <a:t>  • analyze_document   — runs the full 5-check pipeline</a:t>
            </a:r>
          </a:p>
          <a:p xmlns:a="http://schemas.openxmlformats.org/drawingml/2006/main">
            <a:r>
              <a:rPr lang="en-US" sz="1500" b="0">
                <a:solidFill>
                  <a:srgbClr val="BBDEFB"/>
                </a:solidFill>
              </a:rPr>
              <a:t>  • examine_case        — runs the LR evaluation engine</a:t>
            </a:r>
          </a:p>
          <a:p xmlns:a="http://schemas.openxmlformats.org/drawingml/2006/main">
            <a:r>
              <a:rPr lang="en-US" sz="1500" b="0">
                <a:solidFill>
                  <a:srgbClr val="BBDEFB"/>
                </a:solidFill>
              </a:rPr>
              <a:t>  • render_report       — generates the court draft report</a:t>
            </a:r>
          </a:p>
          <a:p xmlns:a="http://schemas.openxmlformats.org/drawingml/2006/main">
            <a:r>
              <a:rPr lang="en-US" sz="1500" b="0">
                <a:solidFill>
                  <a:srgbClr val="BBDEFB"/>
                </a:solidFill>
              </a:rPr>
              <a:t>  • get_checklist       — returns doc-type examination checklist</a:t>
            </a:r>
          </a:p>
          <a:p xmlns:a="http://schemas.openxmlformats.org/drawingml/2006/main">
            <a:r>
              <a:rPr lang="en-US" sz="1500" b="0">
                <a:solidFill>
                  <a:srgbClr val="BBDEFB"/>
                </a:solidFill>
              </a:rPr>
              <a:t>  • check_standards     — maps findings to legal standards</a:t>
            </a:r>
          </a:p>
          <a:p xmlns:a="http://schemas.openxmlformats.org/drawingml/2006/main">
            <a:r>
              <a:rPr lang="en-US" sz="1500" b="0">
                <a:solidFill>
                  <a:srgbClr val="BBDEFB"/>
                </a:solidFill>
              </a:rPr>
              <a:t>  • pdf_metadata        — deep-dives PDF revision history</a:t>
            </a:r>
          </a:p>
        </p:txBody>
      </p:sp>
      <p:sp>
        <p:nvSpPr>
          <p:cNvPr id="100056" name="BobLabel"/>
          <p:cNvSpPr txBox="1"/>
          <p:nvPr/>
        </p:nvSpPr>
        <p:spPr>
          <a:xfrm xmlns:a="http://schemas.openxmlformats.org/drawingml/2006/main">
            <a:off x="6300000" y="936000"/>
            <a:ext cx="50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1">
                <a:solidFill>
                  <a:srgbClr val="2979FF"/>
                </a:solidFill>
              </a:rPr>
              <a:t>How Bob Solves the Problem</a:t>
            </a:r>
          </a:p>
        </p:txBody>
      </p:sp>
      <p:sp>
        <p:nvSpPr>
          <p:cNvPr id="100057" name="BobFlow"/>
          <p:cNvSpPr txBox="1"/>
          <p:nvPr/>
        </p:nvSpPr>
        <p:spPr>
          <a:xfrm xmlns:a="http://schemas.openxmlformats.org/drawingml/2006/main">
            <a:off x="6300000" y="1260000"/>
            <a:ext cx="5040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92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1️⃣  Investigator uploads document in Bob chat</a:t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2️⃣  Bob calls analyze_document MCP tool → gets structured findings</a:t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3️⃣  Bob calls examine_case → Bayesian LR combined score</a:t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4️⃣  Bob calls render_report → court-ready Markdown draft</a:t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5️⃣  Bob presents verdict + explains each flag in plain language</a:t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E3F2FD"/>
                </a:solidFill>
              </a:rPr>
              <a:t>6️⃣  Bob asks: "Do you want me to recommend further lab examinations?"</a:t>
            </a:r>
          </a:p>
        </p:txBody>
      </p:sp>
      <p:sp>
        <p:nvSpPr>
          <p:cNvPr id="100058" name="ModelsLabel"/>
          <p:cNvSpPr txBox="1"/>
          <p:nvPr/>
        </p:nvSpPr>
        <p:spPr>
          <a:xfrm xmlns:a="http://schemas.openxmlformats.org/drawingml/2006/main">
            <a:off x="720000" y="4392000"/>
            <a:ext cx="104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FFD54F"/>
                </a:solidFill>
              </a:rPr>
              <a:t>AI Models Used</a:t>
            </a:r>
          </a:p>
        </p:txBody>
      </p:sp>
      <p:sp>
        <p:nvSpPr>
          <p:cNvPr id="100059" name="ModelsBody"/>
          <p:cNvSpPr txBox="1"/>
          <p:nvPr/>
        </p:nvSpPr>
        <p:spPr>
          <a:xfrm xmlns:a="http://schemas.openxmlformats.org/drawingml/2006/main">
            <a:off x="720000" y="4680000"/>
            <a:ext cx="10440000" cy="7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2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FFF9C4"/>
                </a:solidFill>
              </a:rPr>
              <a:t>IBM watsonx.ai (Granite)  —  natural language verdict generation, report polishing, legal section lookup  |  IBM Bob Agent  —  orchestrates MCP tool calls, guides examiner through checklist, answers follow-up questions  |  Custom CV models  —  ELA anomaly scorer, glyph-twin detector, noise-tile analyser (trained on CG-1050, 1,460 images)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1B2A"/>
        </a:solidFill>
      </p:bgPr>
    </p:bg>
    <p:spTree>
      <p:nvGrpSpPr>
        <p:cNvPr id="1" name=""/>
        <p:cNvGrpSpPr/>
        <p:nvPr/>
      </p:nvGrpSpPr>
      <p:grpSpPr/>
      <p:sp>
        <p:nvSpPr>
          <p:cNvPr id="100060" name="TopAccent"/>
          <p:cNvSpPr txBox="1"/>
          <p:nvPr/>
        </p:nvSpPr>
        <p:spPr>
          <a:xfrm xmlns:a="http://schemas.openxmlformats.org/drawingml/2006/main">
            <a:off x="0" y="0"/>
            <a:ext cx="1219320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79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600">
              <a:solidFill>
                <a:srgbClr val="2979FF"/>
              </a:solidFill>
            </a:endParaRPr>
          </a:p>
        </p:txBody>
      </p:sp>
      <p:sp>
        <p:nvSpPr>
          <p:cNvPr id="100061" name="SlideNum"/>
          <p:cNvSpPr txBox="1"/>
          <p:nvPr/>
        </p:nvSpPr>
        <p:spPr>
          <a:xfrm xmlns:a="http://schemas.openxmlformats.org/drawingml/2006/main">
            <a:off x="10800000" y="216000"/>
            <a:ext cx="10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979FF"/>
                </a:solidFill>
              </a:rPr>
              <a:t>07</a:t>
            </a:r>
          </a:p>
        </p:txBody>
      </p:sp>
      <p:sp>
        <p:nvSpPr>
          <p:cNvPr id="100062" name="Title"/>
          <p:cNvSpPr txBox="1"/>
          <p:nvPr/>
        </p:nvSpPr>
        <p:spPr>
          <a:xfrm xmlns:a="http://schemas.openxmlformats.org/drawingml/2006/main">
            <a:off x="720000" y="288000"/>
            <a:ext cx="100800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</a:rPr>
              <a:t>Why DocuVerity Wins</a:t>
            </a:r>
          </a:p>
        </p:txBody>
      </p:sp>
      <p:sp>
        <p:nvSpPr>
          <p:cNvPr id="100063" name="P1"/>
          <p:cNvSpPr txBox="1"/>
          <p:nvPr/>
        </p:nvSpPr>
        <p:spPr>
          <a:xfrm xmlns:a="http://schemas.openxmlformats.org/drawingml/2006/main">
            <a:off x="720000" y="1008000"/>
            <a:ext cx="5040000" cy="7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⚡  Speed</a:t>
            </a:r>
          </a:p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Seconds vs. days. Automated pipeline with zero manual steps.</a:t>
            </a:r>
          </a:p>
        </p:txBody>
      </p:sp>
      <p:sp>
        <p:nvSpPr>
          <p:cNvPr id="100064" name="P2"/>
          <p:cNvSpPr txBox="1"/>
          <p:nvPr/>
        </p:nvSpPr>
        <p:spPr>
          <a:xfrm xmlns:a="http://schemas.openxmlformats.org/drawingml/2006/main">
            <a:off x="6120000" y="1008000"/>
            <a:ext cx="5400000" cy="7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⚖  Court-Admissible</a:t>
            </a:r>
          </a:p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Likelihood Ratio framework — same standard used by fingerprint and handwriting examiners. Judges understand it.</a:t>
            </a:r>
          </a:p>
        </p:txBody>
      </p:sp>
      <p:sp>
        <p:nvSpPr>
          <p:cNvPr id="100065" name="P3"/>
          <p:cNvSpPr txBox="1"/>
          <p:nvPr/>
        </p:nvSpPr>
        <p:spPr>
          <a:xfrm xmlns:a="http://schemas.openxmlformats.org/drawingml/2006/main">
            <a:off x="720000" y="2016000"/>
            <a:ext cx="5040000" cy="7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🔬  5-Layer Coverage</a:t>
            </a:r>
          </a:p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Font · Signature · Paper · Ink · Metadata — every forgery vector is checked simultaneously.</a:t>
            </a:r>
          </a:p>
        </p:txBody>
      </p:sp>
      <p:sp>
        <p:nvSpPr>
          <p:cNvPr id="100066" name="P4"/>
          <p:cNvSpPr txBox="1"/>
          <p:nvPr/>
        </p:nvSpPr>
        <p:spPr>
          <a:xfrm xmlns:a="http://schemas.openxmlformats.org/drawingml/2006/main">
            <a:off x="6120000" y="2016000"/>
            <a:ext cx="5400000" cy="7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🤖  IBM Bob Powered</a:t>
            </a:r>
          </a:p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MCP integration makes our forensic engine callable by any Bob workflow — scalable to any agency.</a:t>
            </a:r>
          </a:p>
        </p:txBody>
      </p:sp>
      <p:sp>
        <p:nvSpPr>
          <p:cNvPr id="100067" name="P5"/>
          <p:cNvSpPr txBox="1"/>
          <p:nvPr/>
        </p:nvSpPr>
        <p:spPr>
          <a:xfrm xmlns:a="http://schemas.openxmlformats.org/drawingml/2006/main">
            <a:off x="720000" y="3024000"/>
            <a:ext cx="5040000" cy="7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📂  Open Datasets Validated</a:t>
            </a:r>
          </a:p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CG-1050 (1,460 images) + MIDV-2020 government IDs — not just a demo, production-tested.</a:t>
            </a:r>
          </a:p>
        </p:txBody>
      </p:sp>
      <p:sp>
        <p:nvSpPr>
          <p:cNvPr id="100068" name="P6"/>
          <p:cNvSpPr txBox="1"/>
          <p:nvPr/>
        </p:nvSpPr>
        <p:spPr>
          <a:xfrm xmlns:a="http://schemas.openxmlformats.org/drawingml/2006/main">
            <a:off x="6120000" y="3024000"/>
            <a:ext cx="5400000" cy="7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54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🇮🇳  India-First Legal Mapping</a:t>
            </a:r>
          </a:p>
          <a:p xmlns:a="http://schemas.openxmlformats.org/drawingml/2006/main">
            <a:r>
              <a:rPr lang="en-US" sz="1700" b="0">
                <a:solidFill>
                  <a:srgbClr val="E3F2FD"/>
                </a:solidFill>
              </a:rPr>
              <a:t>Auto-maps to Bhartiya Sakshya Adhiniyam 2023 — built for Indian courts from day one.</a:t>
            </a:r>
          </a:p>
        </p:txBody>
      </p:sp>
      <p:sp>
        <p:nvSpPr>
          <p:cNvPr id="100069" name="CallToAction"/>
          <p:cNvSpPr txBox="1"/>
          <p:nvPr/>
        </p:nvSpPr>
        <p:spPr>
          <a:xfrm xmlns:a="http://schemas.openxmlformats.org/drawingml/2006/main">
            <a:off x="720000" y="4320000"/>
            <a:ext cx="1044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FD54F"/>
                </a:solidFill>
              </a:rPr>
              <a:t>DocuVerity  —  Putting Forensic Certainty in Every Courtroom</a:t>
            </a:r>
          </a:p>
        </p:txBody>
      </p:sp>
      <p:sp>
        <p:nvSpPr>
          <p:cNvPr id="100070" name="QALine"/>
          <p:cNvSpPr txBox="1"/>
          <p:nvPr/>
        </p:nvSpPr>
        <p:spPr>
          <a:xfrm xmlns:a="http://schemas.openxmlformats.org/drawingml/2006/main">
            <a:off x="720000" y="4860000"/>
            <a:ext cx="72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90CAF9"/>
                </a:solidFill>
              </a:rPr>
              <a:t>Thank you  ·  Questions?</a:t>
            </a:r>
          </a:p>
        </p:txBody>
      </p:sp>
      <p:sp>
        <p:nvSpPr>
          <p:cNvPr id="100071" name="BottomAccent"/>
          <p:cNvSpPr txBox="1"/>
          <p:nvPr/>
        </p:nvSpPr>
        <p:spPr>
          <a:xfrm xmlns:a="http://schemas.openxmlformats.org/drawingml/2006/main">
            <a:off x="0" y="6732000"/>
            <a:ext cx="12193200" cy="1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65C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 sz="600">
              <a:solidFill>
                <a:srgbClr val="1565C0"/>
              </a:solidFill>
            </a:endParaRP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2026-09-28T09:08:49Z</dcterms:created>
  <cp:lastModifiedBy>OfficeCLI</cp:lastModifiedBy>
  <dcterms:modified xsi:type="dcterms:W3CDTF">2026-09-28T09:08:49Z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1.0.144</vt:lpwstr>
  </op:property>
  <op:property fmtid="{D5CDD505-2E9C-101B-9397-08002B2CF9AE}" pid="3" name="OfficeCLI.LastModified">
    <vt:lpwstr xmlns:vt="http://schemas.openxmlformats.org/officeDocument/2006/docPropsVTypes">2026-09-28T09:08:55Z</vt:lpwstr>
  </op:property>
</op:Properties>
</file>