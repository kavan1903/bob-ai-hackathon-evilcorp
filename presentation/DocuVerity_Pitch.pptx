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slide. Introduce team and track. DocuVerity = Document Integrity + Certainty.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scale of fraud. Key differentiator: explainability via Likelihood Ratios. Courts reject black-box AI.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check maps to a forensic indicator in the INDICATORS catalogue with a calibrated Likelihood Ratio. All 5 run in parallel.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the UI here. Show a real tampered image going through the pipeline and producing a scored report.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dependencies are open-source. No paid API required for core forensics. IBM Bob and watsonx are the AI layer on top.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MCP is the key integration point. Bob orchestrates everything — the forensic CV engine is the muscle, Bob is the brain that explains and reports.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 slide. Emphasise: explainability + speed + India-specific legal mapping. Open for Q&amp;A.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B89D-DE67-9579-8975-0A986B853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A33A8-D821-1ADB-267F-AE9764B83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00247-718B-5609-B97D-53E07581C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 slide. Emphasise: explainability + speed + India-specific legal mapping. Open for Q&amp;A.</a:t>
            </a:r>
          </a:p>
        </p:txBody>
      </p:sp>
    </p:spTree>
    <p:extLst>
      <p:ext uri="{BB962C8B-B14F-4D97-AF65-F5344CB8AC3E}">
        <p14:creationId xmlns:p14="http://schemas.microsoft.com/office/powerpoint/2010/main" val="3844755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opAccent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2979FF"/>
          </a:solidFill>
        </p:spPr>
        <p:txBody>
          <a:bodyPr/>
          <a:lstStyle/>
          <a:p>
            <a:endParaRPr lang="en-US" sz="600">
              <a:solidFill>
                <a:srgbClr val="2979FF"/>
              </a:solidFill>
            </a:endParaRPr>
          </a:p>
        </p:txBody>
      </p:sp>
      <p:sp>
        <p:nvSpPr>
          <p:cNvPr id="100001" name="TagChip"/>
          <p:cNvSpPr txBox="1"/>
          <p:nvPr/>
        </p:nvSpPr>
        <p:spPr>
          <a:xfrm>
            <a:off x="720000" y="360000"/>
            <a:ext cx="1044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 dirty="0">
                <a:solidFill>
                  <a:srgbClr val="2979FF"/>
                </a:solidFill>
              </a:rPr>
              <a:t>IBM × NFSU HACKATHON  |  TRACK 1 – PHYSICAL &amp; DIGITAL EVIDENCE</a:t>
            </a:r>
          </a:p>
        </p:txBody>
      </p:sp>
      <p:sp>
        <p:nvSpPr>
          <p:cNvPr id="100002" name="MainTitle"/>
          <p:cNvSpPr txBox="1"/>
          <p:nvPr/>
        </p:nvSpPr>
        <p:spPr>
          <a:xfrm>
            <a:off x="720000" y="1131349"/>
            <a:ext cx="10440000" cy="12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7200" b="1" dirty="0" err="1">
                <a:solidFill>
                  <a:srgbClr val="FFFFFF"/>
                </a:solidFill>
              </a:rPr>
              <a:t>DocuVerity</a:t>
            </a:r>
            <a:endParaRPr lang="en-US" sz="7200" b="1" dirty="0">
              <a:solidFill>
                <a:srgbClr val="FFFFFF"/>
              </a:solidFill>
            </a:endParaRPr>
          </a:p>
        </p:txBody>
      </p:sp>
      <p:sp>
        <p:nvSpPr>
          <p:cNvPr id="100003" name="Subtitle"/>
          <p:cNvSpPr txBox="1"/>
          <p:nvPr/>
        </p:nvSpPr>
        <p:spPr>
          <a:xfrm>
            <a:off x="720000" y="2352697"/>
            <a:ext cx="1044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600" b="0" dirty="0">
                <a:solidFill>
                  <a:srgbClr val="90CAF9"/>
                </a:solidFill>
              </a:rPr>
              <a:t>AI-Powered Court-Admissible Document Forensics</a:t>
            </a:r>
          </a:p>
        </p:txBody>
      </p:sp>
      <p:sp>
        <p:nvSpPr>
          <p:cNvPr id="100004" name="Divider"/>
          <p:cNvSpPr txBox="1"/>
          <p:nvPr/>
        </p:nvSpPr>
        <p:spPr>
          <a:xfrm>
            <a:off x="720000" y="3148200"/>
            <a:ext cx="3600000" cy="28800"/>
          </a:xfrm>
          <a:prstGeom prst="rect">
            <a:avLst/>
          </a:prstGeom>
          <a:solidFill>
            <a:srgbClr val="2979FF"/>
          </a:solidFill>
        </p:spPr>
        <p:txBody>
          <a:bodyPr/>
          <a:lstStyle/>
          <a:p>
            <a:endParaRPr lang="en-US" sz="600">
              <a:solidFill>
                <a:srgbClr val="2979FF"/>
              </a:solidFill>
            </a:endParaRPr>
          </a:p>
        </p:txBody>
      </p:sp>
      <p:sp>
        <p:nvSpPr>
          <p:cNvPr id="100005" name="TeamLabel"/>
          <p:cNvSpPr txBox="1"/>
          <p:nvPr/>
        </p:nvSpPr>
        <p:spPr>
          <a:xfrm>
            <a:off x="3669677" y="3258000"/>
            <a:ext cx="4320000" cy="25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 b="1" dirty="0">
                <a:solidFill>
                  <a:srgbClr val="2979FF"/>
                </a:solidFill>
              </a:rPr>
              <a:t> </a:t>
            </a:r>
            <a:r>
              <a:rPr lang="en-US" sz="2400" b="1" dirty="0">
                <a:solidFill>
                  <a:srgbClr val="2979FF"/>
                </a:solidFill>
              </a:rPr>
              <a:t>EVILCORP</a:t>
            </a:r>
            <a:endParaRPr lang="en-US" sz="1400" b="1" dirty="0">
              <a:solidFill>
                <a:srgbClr val="2979FF"/>
              </a:solidFill>
            </a:endParaRPr>
          </a:p>
        </p:txBody>
      </p:sp>
      <p:sp>
        <p:nvSpPr>
          <p:cNvPr id="100006" name="Members"/>
          <p:cNvSpPr txBox="1"/>
          <p:nvPr/>
        </p:nvSpPr>
        <p:spPr>
          <a:xfrm>
            <a:off x="2136000" y="3862800"/>
            <a:ext cx="79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dirty="0">
                <a:solidFill>
                  <a:srgbClr val="B0BEC5"/>
                </a:solidFill>
              </a:rPr>
              <a:t>Kavan Hada</a:t>
            </a:r>
            <a:r>
              <a:rPr lang="en-US" sz="2400" b="0" dirty="0">
                <a:solidFill>
                  <a:srgbClr val="B0BEC5"/>
                </a:solidFill>
              </a:rPr>
              <a:t>   ·   </a:t>
            </a:r>
            <a:r>
              <a:rPr lang="en-US" sz="2400" dirty="0">
                <a:solidFill>
                  <a:srgbClr val="B0BEC5"/>
                </a:solidFill>
              </a:rPr>
              <a:t>Dhruvang Upadhyay</a:t>
            </a:r>
            <a:r>
              <a:rPr lang="en-US" sz="2400" b="0" dirty="0">
                <a:solidFill>
                  <a:srgbClr val="B0BEC5"/>
                </a:solidFill>
              </a:rPr>
              <a:t>   ·   </a:t>
            </a:r>
            <a:r>
              <a:rPr lang="en-US" sz="2400" dirty="0">
                <a:solidFill>
                  <a:srgbClr val="B0BEC5"/>
                </a:solidFill>
              </a:rPr>
              <a:t>Sagar Aryan</a:t>
            </a:r>
            <a:endParaRPr lang="en-US" sz="2400" b="0" dirty="0">
              <a:solidFill>
                <a:srgbClr val="B0BEC5"/>
              </a:solidFill>
            </a:endParaRPr>
          </a:p>
        </p:txBody>
      </p:sp>
      <p:sp>
        <p:nvSpPr>
          <p:cNvPr id="100007" name="BottomAccent"/>
          <p:cNvSpPr txBox="1"/>
          <p:nvPr/>
        </p:nvSpPr>
        <p:spPr>
          <a:xfrm>
            <a:off x="0" y="6732000"/>
            <a:ext cx="12193200" cy="108000"/>
          </a:xfrm>
          <a:prstGeom prst="rect">
            <a:avLst/>
          </a:prstGeom>
          <a:solidFill>
            <a:srgbClr val="1565C0"/>
          </a:solidFill>
        </p:spPr>
        <p:txBody>
          <a:bodyPr/>
          <a:lstStyle/>
          <a:p>
            <a:endParaRPr lang="en-US" sz="600">
              <a:solidFill>
                <a:srgbClr val="1565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" name="TopAccent"/>
          <p:cNvSpPr txBox="1"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2979FF"/>
          </a:solidFill>
        </p:spPr>
        <p:txBody>
          <a:bodyPr/>
          <a:lstStyle/>
          <a:p>
            <a:endParaRPr lang="en-US" sz="600">
              <a:solidFill>
                <a:srgbClr val="2979FF"/>
              </a:solidFill>
            </a:endParaRPr>
          </a:p>
        </p:txBody>
      </p:sp>
      <p:sp>
        <p:nvSpPr>
          <p:cNvPr id="100009" name="SlideNum"/>
          <p:cNvSpPr txBox="1"/>
          <p:nvPr/>
        </p:nvSpPr>
        <p:spPr>
          <a:xfrm>
            <a:off x="10800000" y="216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2979FF"/>
                </a:solidFill>
              </a:rPr>
              <a:t>02</a:t>
            </a:r>
          </a:p>
        </p:txBody>
      </p:sp>
      <p:sp>
        <p:nvSpPr>
          <p:cNvPr id="100010" name="Title"/>
          <p:cNvSpPr txBox="1"/>
          <p:nvPr/>
        </p:nvSpPr>
        <p:spPr>
          <a:xfrm>
            <a:off x="720000" y="288000"/>
            <a:ext cx="936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The Problem &amp; Our Solution</a:t>
            </a:r>
          </a:p>
        </p:txBody>
      </p:sp>
      <p:sp>
        <p:nvSpPr>
          <p:cNvPr id="100011" name="ProblemBox"/>
          <p:cNvSpPr txBox="1"/>
          <p:nvPr/>
        </p:nvSpPr>
        <p:spPr>
          <a:xfrm>
            <a:off x="540000" y="936000"/>
            <a:ext cx="5220000" cy="288000"/>
          </a:xfrm>
          <a:prstGeom prst="rect">
            <a:avLst/>
          </a:prstGeom>
          <a:solidFill>
            <a:srgbClr val="C62828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00012" name="ProblemBody"/>
          <p:cNvSpPr txBox="1"/>
          <p:nvPr/>
        </p:nvSpPr>
        <p:spPr>
          <a:xfrm>
            <a:off x="540000" y="1260000"/>
            <a:ext cx="5220000" cy="2880000"/>
          </a:xfrm>
          <a:prstGeom prst="rect">
            <a:avLst/>
          </a:prstGeom>
          <a:solidFill>
            <a:srgbClr val="1A0A0A"/>
          </a:solidFill>
        </p:spPr>
        <p:txBody>
          <a:bodyPr/>
          <a:lstStyle/>
          <a:p>
            <a:r>
              <a:rPr lang="en-US" sz="1600" b="0">
                <a:solidFill>
                  <a:srgbClr val="FFCDD2"/>
                </a:solidFill>
              </a:rPr>
              <a:t>⚠  3,000+ fake degrees in 2022 alone — plus forged COVID certificates and property documents flooding courts</a:t>
            </a:r>
          </a:p>
          <a:p>
            <a:endParaRPr lang="en-US" sz="1600" b="0">
              <a:solidFill>
                <a:srgbClr val="FFCDD2"/>
              </a:solidFill>
            </a:endParaRPr>
          </a:p>
          <a:p>
            <a:r>
              <a:rPr lang="en-US" sz="1600" b="0">
                <a:solidFill>
                  <a:srgbClr val="FFCDD2"/>
                </a:solidFill>
              </a:rPr>
              <a:t>⚠  Current forensic verification is 100% manual, subjective and slow — examiners take days per document</a:t>
            </a:r>
          </a:p>
          <a:p>
            <a:endParaRPr lang="en-US" sz="1600" b="0">
              <a:solidFill>
                <a:srgbClr val="FFCDD2"/>
              </a:solidFill>
            </a:endParaRPr>
          </a:p>
          <a:p>
            <a:r>
              <a:rPr lang="en-US" sz="1600" b="0">
                <a:solidFill>
                  <a:srgbClr val="FFCDD2"/>
                </a:solidFill>
              </a:rPr>
              <a:t>⚠  Modern digital forgeries (metadata spoofing, copy-pasted signatures, ELA-invisible edits) defeat traditional methods</a:t>
            </a:r>
          </a:p>
          <a:p>
            <a:endParaRPr lang="en-US" sz="1600" b="0">
              <a:solidFill>
                <a:srgbClr val="FFCDD2"/>
              </a:solidFill>
            </a:endParaRPr>
          </a:p>
          <a:p>
            <a:r>
              <a:rPr lang="en-US" sz="1600" b="0">
                <a:solidFill>
                  <a:srgbClr val="FFCDD2"/>
                </a:solidFill>
              </a:rPr>
              <a:t>⚠  AI black-box verdicts are inadmissible in court — judges need a reasoned, explainable expert opinion</a:t>
            </a:r>
          </a:p>
        </p:txBody>
      </p:sp>
      <p:sp>
        <p:nvSpPr>
          <p:cNvPr id="100013" name="SolutionBox"/>
          <p:cNvSpPr txBox="1"/>
          <p:nvPr/>
        </p:nvSpPr>
        <p:spPr>
          <a:xfrm>
            <a:off x="6300000" y="936000"/>
            <a:ext cx="5220000" cy="288000"/>
          </a:xfrm>
          <a:prstGeom prst="rect">
            <a:avLst/>
          </a:prstGeom>
          <a:solidFill>
            <a:srgbClr val="1565C0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OUR SOLUTION — DOCUVERIFY</a:t>
            </a:r>
          </a:p>
        </p:txBody>
      </p:sp>
      <p:sp>
        <p:nvSpPr>
          <p:cNvPr id="100014" name="SolutionBody"/>
          <p:cNvSpPr txBox="1"/>
          <p:nvPr/>
        </p:nvSpPr>
        <p:spPr>
          <a:xfrm>
            <a:off x="6300000" y="1260000"/>
            <a:ext cx="5220000" cy="2880000"/>
          </a:xfrm>
          <a:prstGeom prst="rect">
            <a:avLst/>
          </a:prstGeom>
          <a:solidFill>
            <a:srgbClr val="0A1929"/>
          </a:solidFill>
        </p:spPr>
        <p:txBody>
          <a:bodyPr/>
          <a:lstStyle/>
          <a:p>
            <a:r>
              <a:rPr lang="en-US" sz="1600" b="0">
                <a:solidFill>
                  <a:srgbClr val="BBDEFB"/>
                </a:solidFill>
              </a:rPr>
              <a:t>✅  Bob-powered guided examination workflow — fully automated, zero manual steps</a:t>
            </a:r>
          </a:p>
          <a:p>
            <a:endParaRPr lang="en-US" sz="1600" b="0">
              <a:solidFill>
                <a:srgbClr val="BBDEFB"/>
              </a:solidFill>
            </a:endParaRPr>
          </a:p>
          <a:p>
            <a:r>
              <a:rPr lang="en-US" sz="1600" b="0">
                <a:solidFill>
                  <a:srgbClr val="BBDEFB"/>
                </a:solidFill>
              </a:rPr>
              <a:t>✅  5 parallel forensic checks run in seconds, not days</a:t>
            </a:r>
          </a:p>
          <a:p>
            <a:endParaRPr lang="en-US" sz="1600" b="0">
              <a:solidFill>
                <a:srgbClr val="BBDEFB"/>
              </a:solidFill>
            </a:endParaRPr>
          </a:p>
          <a:p>
            <a:r>
              <a:rPr lang="en-US" sz="1600" b="0">
                <a:solidFill>
                  <a:srgbClr val="BBDEFB"/>
                </a:solidFill>
              </a:rPr>
              <a:t>✅  Mathematically explainable Likelihood Ratios (LR) — not a black-box score</a:t>
            </a:r>
          </a:p>
          <a:p>
            <a:endParaRPr lang="en-US" sz="1600" b="0">
              <a:solidFill>
                <a:srgbClr val="BBDEFB"/>
              </a:solidFill>
            </a:endParaRPr>
          </a:p>
          <a:p>
            <a:r>
              <a:rPr lang="en-US" sz="1600" b="0">
                <a:solidFill>
                  <a:srgbClr val="BBDEFB"/>
                </a:solidFill>
              </a:rPr>
              <a:t>✅  Auto-generates court-admissible expert opinion reports mapped to Bhartiya Sakshya Adhiniyam, 2023</a:t>
            </a:r>
          </a:p>
        </p:txBody>
      </p:sp>
      <p:sp>
        <p:nvSpPr>
          <p:cNvPr id="100015" name="WinNote"/>
          <p:cNvSpPr txBox="1"/>
          <p:nvPr/>
        </p:nvSpPr>
        <p:spPr>
          <a:xfrm>
            <a:off x="540000" y="4320000"/>
            <a:ext cx="10800000" cy="432000"/>
          </a:xfrm>
          <a:prstGeom prst="rect">
            <a:avLst/>
          </a:prstGeom>
          <a:solidFill>
            <a:srgbClr val="1A1200"/>
          </a:solidFill>
        </p:spPr>
        <p:txBody>
          <a:bodyPr/>
          <a:lstStyle/>
          <a:p>
            <a:r>
              <a:rPr lang="en-US" sz="1500" b="1">
                <a:solidFill>
                  <a:srgbClr val="FFD54F"/>
                </a:solidFill>
              </a:rPr>
              <a:t>🏆  WHY IT WINS:  Courts require explainability — our LR framework is the same standard used by forensic experts worldwide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6" name="TopAccent"/>
          <p:cNvSpPr txBox="1"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2979FF"/>
          </a:solidFill>
        </p:spPr>
        <p:txBody>
          <a:bodyPr/>
          <a:lstStyle/>
          <a:p>
            <a:endParaRPr lang="en-US" sz="600">
              <a:solidFill>
                <a:srgbClr val="2979FF"/>
              </a:solidFill>
            </a:endParaRPr>
          </a:p>
        </p:txBody>
      </p:sp>
      <p:sp>
        <p:nvSpPr>
          <p:cNvPr id="100017" name="SlideNum"/>
          <p:cNvSpPr txBox="1"/>
          <p:nvPr/>
        </p:nvSpPr>
        <p:spPr>
          <a:xfrm>
            <a:off x="10800000" y="216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2979FF"/>
                </a:solidFill>
              </a:rPr>
              <a:t>03</a:t>
            </a:r>
          </a:p>
        </p:txBody>
      </p:sp>
      <p:sp>
        <p:nvSpPr>
          <p:cNvPr id="100018" name="Title"/>
          <p:cNvSpPr txBox="1"/>
          <p:nvPr/>
        </p:nvSpPr>
        <p:spPr>
          <a:xfrm>
            <a:off x="720000" y="288000"/>
            <a:ext cx="1008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The Input — 5 Parallel Forensic Checks</a:t>
            </a:r>
          </a:p>
        </p:txBody>
      </p:sp>
      <p:sp>
        <p:nvSpPr>
          <p:cNvPr id="100019" name="InputLabel"/>
          <p:cNvSpPr txBox="1"/>
          <p:nvPr/>
        </p:nvSpPr>
        <p:spPr>
          <a:xfrm>
            <a:off x="720000" y="864000"/>
            <a:ext cx="10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 dirty="0">
                <a:solidFill>
                  <a:srgbClr val="90CAF9"/>
                </a:solidFill>
              </a:rPr>
              <a:t>↑  Upload: PDF or Image (JPG / PNG / TIFF)</a:t>
            </a:r>
          </a:p>
        </p:txBody>
      </p:sp>
      <p:sp>
        <p:nvSpPr>
          <p:cNvPr id="100020" name="C1"/>
          <p:cNvSpPr txBox="1"/>
          <p:nvPr/>
        </p:nvSpPr>
        <p:spPr>
          <a:xfrm>
            <a:off x="540000" y="1188000"/>
            <a:ext cx="3780000" cy="21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 b="0">
                <a:solidFill>
                  <a:srgbClr val="E3F2FD"/>
                </a:solidFill>
              </a:rPr>
              <a:t>01  DIGITAL METADATA</a:t>
            </a:r>
          </a:p>
          <a:p>
            <a:r>
              <a:rPr lang="en-US" sz="1400" b="0">
                <a:solidFill>
                  <a:srgbClr val="E3F2FD"/>
                </a:solidFill>
              </a:rPr>
              <a:t>(EXIF / ELA)</a:t>
            </a:r>
          </a:p>
          <a:p>
            <a:endParaRPr lang="en-US" sz="1400" b="0">
              <a:solidFill>
                <a:srgbClr val="E3F2FD"/>
              </a:solidFill>
            </a:endParaRPr>
          </a:p>
          <a:p>
            <a:r>
              <a:rPr lang="en-US" sz="1400" b="0">
                <a:solidFill>
                  <a:srgbClr val="E3F2FD"/>
                </a:solidFill>
              </a:rPr>
              <a:t>Detects hidden incremental saves, mod dates after issue date, mismatched JPEG compression grids, editing software in EXIF (Photoshop / iLovePDF)</a:t>
            </a:r>
          </a:p>
        </p:txBody>
      </p:sp>
      <p:sp>
        <p:nvSpPr>
          <p:cNvPr id="100021" name="C2"/>
          <p:cNvSpPr txBox="1"/>
          <p:nvPr/>
        </p:nvSpPr>
        <p:spPr>
          <a:xfrm>
            <a:off x="4680000" y="1188000"/>
            <a:ext cx="3600000" cy="21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 b="0">
                <a:solidFill>
                  <a:srgbClr val="E3F2FD"/>
                </a:solidFill>
              </a:rPr>
              <a:t>02  FONT INCONSISTENCIES</a:t>
            </a:r>
          </a:p>
          <a:p>
            <a:r>
              <a:rPr lang="en-US" sz="1400" b="0">
                <a:solidFill>
                  <a:srgbClr val="E3F2FD"/>
                </a:solidFill>
              </a:rPr>
              <a:t>(OpenCV)</a:t>
            </a:r>
          </a:p>
          <a:p>
            <a:endParaRPr lang="en-US" sz="1400" b="0">
              <a:solidFill>
                <a:srgbClr val="E3F2FD"/>
              </a:solidFill>
            </a:endParaRPr>
          </a:p>
          <a:p>
            <a:r>
              <a:rPr lang="en-US" sz="1400" b="0">
                <a:solidFill>
                  <a:srgbClr val="E3F2FD"/>
                </a:solidFill>
              </a:rPr>
              <a:t>Hough-line edge detection flags misaligned text baselines and characters retyped in a different typeface — indicates pasted / inserted text</a:t>
            </a:r>
          </a:p>
        </p:txBody>
      </p:sp>
      <p:sp>
        <p:nvSpPr>
          <p:cNvPr id="100022" name="C3"/>
          <p:cNvSpPr txBox="1"/>
          <p:nvPr/>
        </p:nvSpPr>
        <p:spPr>
          <a:xfrm>
            <a:off x="8640000" y="1188000"/>
            <a:ext cx="3420000" cy="216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 b="0">
                <a:solidFill>
                  <a:srgbClr val="E3F2FD"/>
                </a:solidFill>
              </a:rPr>
              <a:t>03  PAPER ANOMALIES</a:t>
            </a:r>
          </a:p>
          <a:p>
            <a:r>
              <a:rPr lang="en-US" sz="1400" b="0">
                <a:solidFill>
                  <a:srgbClr val="E3F2FD"/>
                </a:solidFill>
              </a:rPr>
              <a:t>(Laplacian)</a:t>
            </a:r>
          </a:p>
          <a:p>
            <a:endParaRPr lang="en-US" sz="1400" b="0">
              <a:solidFill>
                <a:srgbClr val="E3F2FD"/>
              </a:solidFill>
            </a:endParaRPr>
          </a:p>
          <a:p>
            <a:r>
              <a:rPr lang="en-US" sz="1400" b="0">
                <a:solidFill>
                  <a:srgbClr val="E3F2FD"/>
                </a:solidFill>
              </a:rPr>
              <a:t>Laplacian variance detects artificial background smoothing from digital erasure or white-out; noise-map tiling flags pasted paper patches</a:t>
            </a:r>
          </a:p>
        </p:txBody>
      </p:sp>
      <p:sp>
        <p:nvSpPr>
          <p:cNvPr id="100023" name="C4"/>
          <p:cNvSpPr txBox="1"/>
          <p:nvPr/>
        </p:nvSpPr>
        <p:spPr>
          <a:xfrm>
            <a:off x="540000" y="3600000"/>
            <a:ext cx="5400000" cy="198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 b="0">
                <a:solidFill>
                  <a:srgbClr val="E3F2FD"/>
                </a:solidFill>
              </a:rPr>
              <a:t>04  SIGNATURE MISMATCH</a:t>
            </a:r>
          </a:p>
          <a:p>
            <a:r>
              <a:rPr lang="en-US" sz="1400" b="0">
                <a:solidFill>
                  <a:srgbClr val="E3F2FD"/>
                </a:solidFill>
              </a:rPr>
              <a:t>(Contour + Feature Matching)</a:t>
            </a:r>
          </a:p>
          <a:p>
            <a:endParaRPr lang="en-US" sz="1400" b="0">
              <a:solidFill>
                <a:srgbClr val="E3F2FD"/>
              </a:solidFill>
            </a:endParaRPr>
          </a:p>
          <a:p>
            <a:r>
              <a:rPr lang="en-US" sz="1400" b="0">
                <a:solidFill>
                  <a:srgbClr val="E3F2FD"/>
                </a:solidFill>
              </a:rPr>
              <a:t>Contour isolation detects transplanted PNG signatures (perfect black, no ink variation); feature distance flags freehand forgeries vs exemplar</a:t>
            </a:r>
          </a:p>
        </p:txBody>
      </p:sp>
      <p:sp>
        <p:nvSpPr>
          <p:cNvPr id="100024" name="C5"/>
          <p:cNvSpPr txBox="1"/>
          <p:nvPr/>
        </p:nvSpPr>
        <p:spPr>
          <a:xfrm>
            <a:off x="6300000" y="3600000"/>
            <a:ext cx="5760000" cy="198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400" b="0">
                <a:solidFill>
                  <a:srgbClr val="E3F2FD"/>
                </a:solidFill>
              </a:rPr>
              <a:t>05  INK SPREAD</a:t>
            </a:r>
          </a:p>
          <a:p>
            <a:r>
              <a:rPr lang="en-US" sz="1400" b="0">
                <a:solidFill>
                  <a:srgbClr val="E3F2FD"/>
                </a:solidFill>
              </a:rPr>
              <a:t>(Sobel Gradient)</a:t>
            </a:r>
          </a:p>
          <a:p>
            <a:endParaRPr lang="en-US" sz="1400" b="0">
              <a:solidFill>
                <a:srgbClr val="E3F2FD"/>
              </a:solidFill>
            </a:endParaRPr>
          </a:p>
          <a:p>
            <a:r>
              <a:rPr lang="en-US" sz="1400" b="0">
                <a:solidFill>
                  <a:srgbClr val="E3F2FD"/>
                </a:solidFill>
              </a:rPr>
              <a:t>Sobel gradient analysis distinguishes sharp digital anti-aliased ink (forgery) from naturally bleeding physical ink — catches digitally inserted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5" name="TopAccent"/>
          <p:cNvSpPr txBox="1"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2979FF"/>
          </a:solidFill>
        </p:spPr>
        <p:txBody>
          <a:bodyPr/>
          <a:lstStyle/>
          <a:p>
            <a:endParaRPr lang="en-US" sz="600">
              <a:solidFill>
                <a:srgbClr val="2979FF"/>
              </a:solidFill>
            </a:endParaRPr>
          </a:p>
        </p:txBody>
      </p:sp>
      <p:sp>
        <p:nvSpPr>
          <p:cNvPr id="100026" name="SlideNum"/>
          <p:cNvSpPr txBox="1"/>
          <p:nvPr/>
        </p:nvSpPr>
        <p:spPr>
          <a:xfrm>
            <a:off x="10800000" y="216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2979FF"/>
                </a:solidFill>
              </a:rPr>
              <a:t>04</a:t>
            </a:r>
          </a:p>
        </p:txBody>
      </p:sp>
      <p:sp>
        <p:nvSpPr>
          <p:cNvPr id="100027" name="Title"/>
          <p:cNvSpPr txBox="1"/>
          <p:nvPr/>
        </p:nvSpPr>
        <p:spPr>
          <a:xfrm>
            <a:off x="720000" y="288000"/>
            <a:ext cx="1008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The Output &amp; Validation</a:t>
            </a:r>
          </a:p>
        </p:txBody>
      </p:sp>
      <p:sp>
        <p:nvSpPr>
          <p:cNvPr id="100028" name="OutLabel"/>
          <p:cNvSpPr txBox="1"/>
          <p:nvPr/>
        </p:nvSpPr>
        <p:spPr>
          <a:xfrm>
            <a:off x="720000" y="900000"/>
            <a:ext cx="540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2979FF"/>
                </a:solidFill>
              </a:rPr>
              <a:t>What the Investigator Sees</a:t>
            </a:r>
          </a:p>
        </p:txBody>
      </p:sp>
      <p:sp>
        <p:nvSpPr>
          <p:cNvPr id="100029" name="O1"/>
          <p:cNvSpPr txBox="1"/>
          <p:nvPr/>
        </p:nvSpPr>
        <p:spPr>
          <a:xfrm>
            <a:off x="720000" y="1224000"/>
            <a:ext cx="5400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 b="0">
                <a:solidFill>
                  <a:srgbClr val="E3F2FD"/>
                </a:solidFill>
              </a:rPr>
              <a:t>🎯  Triage Score</a:t>
            </a:r>
          </a:p>
          <a:p>
            <a:r>
              <a:rPr lang="en-US" sz="1500" b="0">
                <a:solidFill>
                  <a:srgbClr val="E3F2FD"/>
                </a:solidFill>
              </a:rPr>
              <a:t>Combined Likelihood Ratio expressed as 0–100 (e.g. 99.8/100 — Strong evidence of forgery)</a:t>
            </a:r>
          </a:p>
        </p:txBody>
      </p:sp>
      <p:sp>
        <p:nvSpPr>
          <p:cNvPr id="100030" name="O2"/>
          <p:cNvSpPr txBox="1"/>
          <p:nvPr/>
        </p:nvSpPr>
        <p:spPr>
          <a:xfrm>
            <a:off x="720000" y="2196000"/>
            <a:ext cx="5400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 b="0">
                <a:solidFill>
                  <a:srgbClr val="E3F2FD"/>
                </a:solidFill>
              </a:rPr>
              <a:t>🔍  Explainable Findings</a:t>
            </a:r>
          </a:p>
          <a:p>
            <a:r>
              <a:rPr lang="en-US" sz="1500" b="0">
                <a:solidFill>
                  <a:srgbClr val="E3F2FD"/>
                </a:solidFill>
              </a:rPr>
              <a:t>Every flag names the exact anomaly: "Software: iLovePDF detected in EXIF" · "Baseline misalignment in line 3"</a:t>
            </a:r>
          </a:p>
        </p:txBody>
      </p:sp>
      <p:sp>
        <p:nvSpPr>
          <p:cNvPr id="100031" name="O3"/>
          <p:cNvSpPr txBox="1"/>
          <p:nvPr/>
        </p:nvSpPr>
        <p:spPr>
          <a:xfrm>
            <a:off x="720000" y="3168000"/>
            <a:ext cx="5400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 b="0">
                <a:solidFill>
                  <a:srgbClr val="E3F2FD"/>
                </a:solidFill>
              </a:rPr>
              <a:t>⚖  Legal Mapping</a:t>
            </a:r>
          </a:p>
          <a:p>
            <a:r>
              <a:rPr lang="en-US" sz="1500" b="0">
                <a:solidFill>
                  <a:srgbClr val="E3F2FD"/>
                </a:solidFill>
              </a:rPr>
              <a:t>Auto-mapped to Bhartiya Sakshya Adhiniyam 2023 s.63, BNS 2023 ss. 336–340 (forgery offences)</a:t>
            </a:r>
          </a:p>
        </p:txBody>
      </p:sp>
      <p:sp>
        <p:nvSpPr>
          <p:cNvPr id="100032" name="O4"/>
          <p:cNvSpPr txBox="1"/>
          <p:nvPr/>
        </p:nvSpPr>
        <p:spPr>
          <a:xfrm>
            <a:off x="720000" y="4140000"/>
            <a:ext cx="5400000" cy="900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500" b="0">
                <a:solidFill>
                  <a:srgbClr val="E3F2FD"/>
                </a:solidFill>
              </a:rPr>
              <a:t>📄  Draft Court Report</a:t>
            </a:r>
          </a:p>
          <a:p>
            <a:r>
              <a:rPr lang="en-US" sz="1500" b="0">
                <a:solidFill>
                  <a:srgbClr val="E3F2FD"/>
                </a:solidFill>
              </a:rPr>
              <a:t>Markdown forensic report with LR table, classification, recommended further examinations and examiner declaration</a:t>
            </a:r>
          </a:p>
        </p:txBody>
      </p:sp>
      <p:sp>
        <p:nvSpPr>
          <p:cNvPr id="100033" name="ValLabel"/>
          <p:cNvSpPr txBox="1"/>
          <p:nvPr/>
        </p:nvSpPr>
        <p:spPr>
          <a:xfrm>
            <a:off x="6660000" y="900000"/>
            <a:ext cx="46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2979FF"/>
                </a:solidFill>
              </a:rPr>
              <a:t>Validation</a:t>
            </a:r>
          </a:p>
        </p:txBody>
      </p:sp>
      <p:sp>
        <p:nvSpPr>
          <p:cNvPr id="100034" name="Val1"/>
          <p:cNvSpPr txBox="1"/>
          <p:nvPr/>
        </p:nvSpPr>
        <p:spPr>
          <a:xfrm>
            <a:off x="6660000" y="1224000"/>
            <a:ext cx="4680000" cy="1260000"/>
          </a:xfrm>
          <a:prstGeom prst="rect">
            <a:avLst/>
          </a:prstGeom>
          <a:solidFill>
            <a:srgbClr val="0A2010"/>
          </a:solidFill>
        </p:spPr>
        <p:txBody>
          <a:bodyPr/>
          <a:lstStyle/>
          <a:p>
            <a:r>
              <a:rPr lang="en-US" sz="1500" b="0">
                <a:solidFill>
                  <a:srgbClr val="C8E6C9"/>
                </a:solidFill>
              </a:rPr>
              <a:t>📊  CG-1050 Dataset</a:t>
            </a:r>
          </a:p>
          <a:p>
            <a:r>
              <a:rPr lang="en-US" sz="1500" b="0">
                <a:solidFill>
                  <a:srgbClr val="C8E6C9"/>
                </a:solidFill>
              </a:rPr>
              <a:t>1,460 images (730 original + 730 tampered)</a:t>
            </a:r>
          </a:p>
          <a:p>
            <a:r>
              <a:rPr lang="en-US" sz="1500" b="0">
                <a:solidFill>
                  <a:srgbClr val="C8E6C9"/>
                </a:solidFill>
              </a:rPr>
              <a:t>All 5 feature columns extracted — flag rates validated per tamper type</a:t>
            </a:r>
          </a:p>
        </p:txBody>
      </p:sp>
      <p:sp>
        <p:nvSpPr>
          <p:cNvPr id="100035" name="Val2"/>
          <p:cNvSpPr txBox="1"/>
          <p:nvPr/>
        </p:nvSpPr>
        <p:spPr>
          <a:xfrm>
            <a:off x="6660000" y="2592000"/>
            <a:ext cx="4680000" cy="1008000"/>
          </a:xfrm>
          <a:prstGeom prst="rect">
            <a:avLst/>
          </a:prstGeom>
          <a:solidFill>
            <a:srgbClr val="0A2010"/>
          </a:solidFill>
        </p:spPr>
        <p:txBody>
          <a:bodyPr/>
          <a:lstStyle/>
          <a:p>
            <a:r>
              <a:rPr lang="en-US" sz="1500" b="0">
                <a:solidFill>
                  <a:srgbClr val="C8E6C9"/>
                </a:solidFill>
              </a:rPr>
              <a:t>🆔  MIDV-2020 Gov ID Dataset</a:t>
            </a:r>
          </a:p>
          <a:p>
            <a:r>
              <a:rPr lang="en-US" sz="1500" b="0">
                <a:solidFill>
                  <a:srgbClr val="C8E6C9"/>
                </a:solidFill>
              </a:rPr>
              <a:t>Tested on government identity documents across multiple countries</a:t>
            </a:r>
          </a:p>
        </p:txBody>
      </p:sp>
      <p:sp>
        <p:nvSpPr>
          <p:cNvPr id="100036" name="Val3"/>
          <p:cNvSpPr txBox="1"/>
          <p:nvPr/>
        </p:nvSpPr>
        <p:spPr>
          <a:xfrm>
            <a:off x="6660000" y="3672000"/>
            <a:ext cx="4680000" cy="1080000"/>
          </a:xfrm>
          <a:prstGeom prst="rect">
            <a:avLst/>
          </a:prstGeom>
          <a:solidFill>
            <a:srgbClr val="1A0E00"/>
          </a:solidFill>
        </p:spPr>
        <p:txBody>
          <a:bodyPr/>
          <a:lstStyle/>
          <a:p>
            <a:r>
              <a:rPr lang="en-US" sz="1500" b="0">
                <a:solidFill>
                  <a:srgbClr val="FFE0B2"/>
                </a:solidFill>
              </a:rPr>
              <a:t>🏛  Court Standard</a:t>
            </a:r>
          </a:p>
          <a:p>
            <a:r>
              <a:rPr lang="en-US" sz="1500" b="0">
                <a:solidFill>
                  <a:srgbClr val="FFE0B2"/>
                </a:solidFill>
              </a:rPr>
              <a:t>Likelihood Ratio framework matches ENFSI guideline for evaluative reporting — same methodology as fingerprint examiners</a:t>
            </a:r>
          </a:p>
        </p:txBody>
      </p:sp>
      <p:sp>
        <p:nvSpPr>
          <p:cNvPr id="100037" name="Screenshot"/>
          <p:cNvSpPr txBox="1"/>
          <p:nvPr/>
        </p:nvSpPr>
        <p:spPr>
          <a:xfrm>
            <a:off x="6660000" y="4824000"/>
            <a:ext cx="4680000" cy="720000"/>
          </a:xfrm>
          <a:prstGeom prst="rect">
            <a:avLst/>
          </a:prstGeom>
          <a:solidFill>
            <a:srgbClr val="0A1929"/>
          </a:solidFill>
        </p:spPr>
        <p:txBody>
          <a:bodyPr/>
          <a:lstStyle/>
          <a:p>
            <a:endParaRPr lang="en-US" sz="1400" b="0" dirty="0">
              <a:solidFill>
                <a:srgbClr val="546E7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8" name="TopAccent"/>
          <p:cNvSpPr txBox="1"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2979FF"/>
          </a:solidFill>
        </p:spPr>
        <p:txBody>
          <a:bodyPr/>
          <a:lstStyle/>
          <a:p>
            <a:endParaRPr lang="en-US" sz="600">
              <a:solidFill>
                <a:srgbClr val="2979FF"/>
              </a:solidFill>
            </a:endParaRPr>
          </a:p>
        </p:txBody>
      </p:sp>
      <p:sp>
        <p:nvSpPr>
          <p:cNvPr id="100039" name="SlideNum"/>
          <p:cNvSpPr txBox="1"/>
          <p:nvPr/>
        </p:nvSpPr>
        <p:spPr>
          <a:xfrm>
            <a:off x="10800000" y="216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2979FF"/>
                </a:solidFill>
              </a:rPr>
              <a:t>05</a:t>
            </a:r>
          </a:p>
        </p:txBody>
      </p:sp>
      <p:sp>
        <p:nvSpPr>
          <p:cNvPr id="100040" name="Title"/>
          <p:cNvSpPr txBox="1"/>
          <p:nvPr/>
        </p:nvSpPr>
        <p:spPr>
          <a:xfrm>
            <a:off x="720000" y="288000"/>
            <a:ext cx="1008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00041" name="Cat1Head"/>
          <p:cNvSpPr txBox="1"/>
          <p:nvPr/>
        </p:nvSpPr>
        <p:spPr>
          <a:xfrm>
            <a:off x="540000" y="936000"/>
            <a:ext cx="3600000" cy="252000"/>
          </a:xfrm>
          <a:prstGeom prst="rect">
            <a:avLst/>
          </a:prstGeom>
          <a:solidFill>
            <a:srgbClr val="1565C0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COMPUTER VISION CORE</a:t>
            </a:r>
          </a:p>
        </p:txBody>
      </p:sp>
      <p:sp>
        <p:nvSpPr>
          <p:cNvPr id="100042" name="Cat1Body"/>
          <p:cNvSpPr txBox="1"/>
          <p:nvPr/>
        </p:nvSpPr>
        <p:spPr>
          <a:xfrm>
            <a:off x="540000" y="1224000"/>
            <a:ext cx="3600000" cy="1800000"/>
          </a:xfrm>
          <a:prstGeom prst="rect">
            <a:avLst/>
          </a:prstGeom>
          <a:solidFill>
            <a:srgbClr val="0A1929"/>
          </a:solidFill>
        </p:spPr>
        <p:txBody>
          <a:bodyPr/>
          <a:lstStyle/>
          <a:p>
            <a:r>
              <a:rPr lang="en-US" sz="1400" b="0">
                <a:solidFill>
                  <a:srgbClr val="BBDEFB"/>
                </a:solidFill>
              </a:rPr>
              <a:t>OpenCV 4  –  edge detection, Hough lines, Sobel, Laplacian, contour analysis</a:t>
            </a:r>
          </a:p>
          <a:p>
            <a:endParaRPr lang="en-US" sz="1400" b="0">
              <a:solidFill>
                <a:srgbClr val="BBDEFB"/>
              </a:solidFill>
            </a:endParaRPr>
          </a:p>
          <a:p>
            <a:r>
              <a:rPr lang="en-US" sz="1400" b="0">
                <a:solidFill>
                  <a:srgbClr val="BBDEFB"/>
                </a:solidFill>
              </a:rPr>
              <a:t>Pillow / PIL  –  image I/O, ELA re-compression</a:t>
            </a:r>
          </a:p>
          <a:p>
            <a:endParaRPr lang="en-US" sz="1400" b="0">
              <a:solidFill>
                <a:srgbClr val="BBDEFB"/>
              </a:solidFill>
            </a:endParaRPr>
          </a:p>
          <a:p>
            <a:r>
              <a:rPr lang="en-US" sz="1400" b="0">
                <a:solidFill>
                  <a:srgbClr val="BBDEFB"/>
                </a:solidFill>
              </a:rPr>
              <a:t>NumPy / SciPy  –  numerical forensics, Otsu threshold, distance transforms</a:t>
            </a:r>
          </a:p>
        </p:txBody>
      </p:sp>
      <p:sp>
        <p:nvSpPr>
          <p:cNvPr id="100043" name="Cat2Head"/>
          <p:cNvSpPr txBox="1"/>
          <p:nvPr/>
        </p:nvSpPr>
        <p:spPr>
          <a:xfrm>
            <a:off x="4500000" y="936000"/>
            <a:ext cx="3600000" cy="252000"/>
          </a:xfrm>
          <a:prstGeom prst="rect">
            <a:avLst/>
          </a:prstGeom>
          <a:solidFill>
            <a:srgbClr val="1565C0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DOCUMENT PARSING</a:t>
            </a:r>
          </a:p>
        </p:txBody>
      </p:sp>
      <p:sp>
        <p:nvSpPr>
          <p:cNvPr id="100044" name="Cat2Body"/>
          <p:cNvSpPr txBox="1"/>
          <p:nvPr/>
        </p:nvSpPr>
        <p:spPr>
          <a:xfrm>
            <a:off x="4500000" y="1224000"/>
            <a:ext cx="3600000" cy="1800000"/>
          </a:xfrm>
          <a:prstGeom prst="rect">
            <a:avLst/>
          </a:prstGeom>
          <a:solidFill>
            <a:srgbClr val="0A1929"/>
          </a:solidFill>
        </p:spPr>
        <p:txBody>
          <a:bodyPr/>
          <a:lstStyle/>
          <a:p>
            <a:r>
              <a:rPr lang="en-US" sz="1400" b="0">
                <a:solidFill>
                  <a:srgbClr val="BBDEFB"/>
                </a:solidFill>
              </a:rPr>
              <a:t>pypdf  –  PDF incremental-save history, XMP vs Info metadata</a:t>
            </a:r>
          </a:p>
          <a:p>
            <a:endParaRPr lang="en-US" sz="1400" b="0">
              <a:solidFill>
                <a:srgbClr val="BBDEFB"/>
              </a:solidFill>
            </a:endParaRPr>
          </a:p>
          <a:p>
            <a:r>
              <a:rPr lang="en-US" sz="1400" b="0">
                <a:solidFill>
                  <a:srgbClr val="BBDEFB"/>
                </a:solidFill>
              </a:rPr>
              <a:t>ExifTags (PIL)  –  EXIF software &amp; date extraction</a:t>
            </a:r>
          </a:p>
          <a:p>
            <a:endParaRPr lang="en-US" sz="1400" b="0">
              <a:solidFill>
                <a:srgbClr val="BBDEFB"/>
              </a:solidFill>
            </a:endParaRPr>
          </a:p>
          <a:p>
            <a:r>
              <a:rPr lang="en-US" sz="1400" b="0">
                <a:solidFill>
                  <a:srgbClr val="BBDEFB"/>
                </a:solidFill>
              </a:rPr>
              <a:t>Custom layout engine  –  word segmentation, glyph twins, stroke-width measurement</a:t>
            </a:r>
          </a:p>
        </p:txBody>
      </p:sp>
      <p:sp>
        <p:nvSpPr>
          <p:cNvPr id="100045" name="Cat3Head"/>
          <p:cNvSpPr txBox="1"/>
          <p:nvPr/>
        </p:nvSpPr>
        <p:spPr>
          <a:xfrm>
            <a:off x="8460000" y="936000"/>
            <a:ext cx="3600000" cy="252000"/>
          </a:xfrm>
          <a:prstGeom prst="rect">
            <a:avLst/>
          </a:prstGeom>
          <a:solidFill>
            <a:srgbClr val="1565C0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SCORING ENGINE</a:t>
            </a:r>
          </a:p>
        </p:txBody>
      </p:sp>
      <p:sp>
        <p:nvSpPr>
          <p:cNvPr id="100046" name="Cat3Body"/>
          <p:cNvSpPr txBox="1"/>
          <p:nvPr/>
        </p:nvSpPr>
        <p:spPr>
          <a:xfrm>
            <a:off x="8460000" y="1224000"/>
            <a:ext cx="3600000" cy="1800000"/>
          </a:xfrm>
          <a:prstGeom prst="rect">
            <a:avLst/>
          </a:prstGeom>
          <a:solidFill>
            <a:srgbClr val="0A1929"/>
          </a:solidFill>
        </p:spPr>
        <p:txBody>
          <a:bodyPr/>
          <a:lstStyle/>
          <a:p>
            <a:r>
              <a:rPr lang="en-US" sz="1400" b="0">
                <a:solidFill>
                  <a:srgbClr val="BBDEFB"/>
                </a:solidFill>
              </a:rPr>
              <a:t>Bayesian Likelihood Ratio (LR) framework — P(finding | forged) / P(finding | genuine)</a:t>
            </a:r>
          </a:p>
          <a:p>
            <a:endParaRPr lang="en-US" sz="1400" b="0">
              <a:solidFill>
                <a:srgbClr val="BBDEFB"/>
              </a:solidFill>
            </a:endParaRPr>
          </a:p>
          <a:p>
            <a:r>
              <a:rPr lang="en-US" sz="1400" b="0">
                <a:solidFill>
                  <a:srgbClr val="BBDEFB"/>
                </a:solidFill>
              </a:rPr>
              <a:t>Category damping — correlated indicators within same category are weighted down</a:t>
            </a:r>
          </a:p>
          <a:p>
            <a:endParaRPr lang="en-US" sz="1400" b="0">
              <a:solidFill>
                <a:srgbClr val="BBDEFB"/>
              </a:solidFill>
            </a:endParaRPr>
          </a:p>
          <a:p>
            <a:r>
              <a:rPr lang="en-US" sz="1400" b="0">
                <a:solidFill>
                  <a:srgbClr val="BBDEFB"/>
                </a:solidFill>
              </a:rPr>
              <a:t>Combined log₁₀ LR → Triage Score (0–100)</a:t>
            </a:r>
          </a:p>
        </p:txBody>
      </p:sp>
      <p:sp>
        <p:nvSpPr>
          <p:cNvPr id="100047" name="Cat4Head"/>
          <p:cNvSpPr txBox="1"/>
          <p:nvPr/>
        </p:nvSpPr>
        <p:spPr>
          <a:xfrm>
            <a:off x="540000" y="3348000"/>
            <a:ext cx="5400000" cy="252000"/>
          </a:xfrm>
          <a:prstGeom prst="rect">
            <a:avLst/>
          </a:prstGeom>
          <a:solidFill>
            <a:srgbClr val="00695C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BACKEND &amp; API</a:t>
            </a:r>
          </a:p>
        </p:txBody>
      </p:sp>
      <p:sp>
        <p:nvSpPr>
          <p:cNvPr id="100048" name="Cat4Body"/>
          <p:cNvSpPr txBox="1"/>
          <p:nvPr/>
        </p:nvSpPr>
        <p:spPr>
          <a:xfrm>
            <a:off x="540000" y="3636000"/>
            <a:ext cx="5400000" cy="1440000"/>
          </a:xfrm>
          <a:prstGeom prst="rect">
            <a:avLst/>
          </a:prstGeom>
          <a:solidFill>
            <a:srgbClr val="00201E"/>
          </a:solidFill>
        </p:spPr>
        <p:txBody>
          <a:bodyPr/>
          <a:lstStyle/>
          <a:p>
            <a:r>
              <a:rPr lang="en-US" sz="1400" b="0">
                <a:solidFill>
                  <a:srgbClr val="B2DFDB"/>
                </a:solidFill>
              </a:rPr>
              <a:t>Python 3.11+  FastAPI / Flask app layer</a:t>
            </a:r>
          </a:p>
          <a:p>
            <a:r>
              <a:rPr lang="en-US" sz="1400" b="0">
                <a:solidFill>
                  <a:srgbClr val="B2DFDB"/>
                </a:solidFill>
              </a:rPr>
              <a:t>MCP Server (Model Context Protocol) — exposes forensic tools to Bob AI agent</a:t>
            </a:r>
          </a:p>
          <a:p>
            <a:r>
              <a:rPr lang="en-US" sz="1400" b="0">
                <a:solidFill>
                  <a:srgbClr val="B2DFDB"/>
                </a:solidFill>
              </a:rPr>
              <a:t>REST endpoints: /analyze, /report, /checklist</a:t>
            </a:r>
          </a:p>
        </p:txBody>
      </p:sp>
      <p:sp>
        <p:nvSpPr>
          <p:cNvPr id="100049" name="Cat5Head"/>
          <p:cNvSpPr txBox="1"/>
          <p:nvPr/>
        </p:nvSpPr>
        <p:spPr>
          <a:xfrm>
            <a:off x="6300000" y="3348000"/>
            <a:ext cx="5400000" cy="252000"/>
          </a:xfrm>
          <a:prstGeom prst="rect">
            <a:avLst/>
          </a:prstGeom>
          <a:solidFill>
            <a:srgbClr val="00695C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0050" name="Cat5Body"/>
          <p:cNvSpPr txBox="1"/>
          <p:nvPr/>
        </p:nvSpPr>
        <p:spPr>
          <a:xfrm>
            <a:off x="6300000" y="3636000"/>
            <a:ext cx="5400000" cy="1440000"/>
          </a:xfrm>
          <a:prstGeom prst="rect">
            <a:avLst/>
          </a:prstGeom>
          <a:solidFill>
            <a:srgbClr val="00201E"/>
          </a:solidFill>
        </p:spPr>
        <p:txBody>
          <a:bodyPr/>
          <a:lstStyle/>
          <a:p>
            <a:r>
              <a:rPr lang="en-US" sz="1400" b="0">
                <a:solidFill>
                  <a:srgbClr val="B2DFDB"/>
                </a:solidFill>
              </a:rPr>
              <a:t>React / Streamlit UI — drag-and-drop upload, live annotated evidence PNG</a:t>
            </a:r>
          </a:p>
          <a:p>
            <a:r>
              <a:rPr lang="en-US" sz="1400" b="0">
                <a:solidFill>
                  <a:srgbClr val="B2DFDB"/>
                </a:solidFill>
              </a:rPr>
              <a:t>Annotated bounding boxes per category (colour-coded: red=font, purple=signature, orange=paper, blue=ink, grey=digital)</a:t>
            </a:r>
          </a:p>
          <a:p>
            <a:r>
              <a:rPr lang="en-US" sz="1400" b="0">
                <a:solidFill>
                  <a:srgbClr val="B2DFDB"/>
                </a:solidFill>
              </a:rPr>
              <a:t>Markdown report viewer + PDF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1" name="TopAccent"/>
          <p:cNvSpPr txBox="1"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2979FF"/>
          </a:solidFill>
        </p:spPr>
        <p:txBody>
          <a:bodyPr/>
          <a:lstStyle/>
          <a:p>
            <a:endParaRPr lang="en-US" sz="600">
              <a:solidFill>
                <a:srgbClr val="2979FF"/>
              </a:solidFill>
            </a:endParaRPr>
          </a:p>
        </p:txBody>
      </p:sp>
      <p:sp>
        <p:nvSpPr>
          <p:cNvPr id="100052" name="SlideNum"/>
          <p:cNvSpPr txBox="1"/>
          <p:nvPr/>
        </p:nvSpPr>
        <p:spPr>
          <a:xfrm>
            <a:off x="10800000" y="216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2979FF"/>
                </a:solidFill>
              </a:rPr>
              <a:t>06</a:t>
            </a:r>
          </a:p>
        </p:txBody>
      </p:sp>
      <p:sp>
        <p:nvSpPr>
          <p:cNvPr id="100053" name="Title"/>
          <p:cNvSpPr txBox="1"/>
          <p:nvPr/>
        </p:nvSpPr>
        <p:spPr>
          <a:xfrm>
            <a:off x="720000" y="288000"/>
            <a:ext cx="1008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IBM Bob + MCP  —  The AI Brain</a:t>
            </a:r>
          </a:p>
        </p:txBody>
      </p:sp>
      <p:sp>
        <p:nvSpPr>
          <p:cNvPr id="100054" name="MCPLabel"/>
          <p:cNvSpPr txBox="1"/>
          <p:nvPr/>
        </p:nvSpPr>
        <p:spPr>
          <a:xfrm>
            <a:off x="720000" y="936000"/>
            <a:ext cx="50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 b="1">
                <a:solidFill>
                  <a:srgbClr val="2979FF"/>
                </a:solidFill>
              </a:rPr>
              <a:t>What is MCP?</a:t>
            </a:r>
          </a:p>
        </p:txBody>
      </p:sp>
      <p:sp>
        <p:nvSpPr>
          <p:cNvPr id="100055" name="MCPBody"/>
          <p:cNvSpPr txBox="1"/>
          <p:nvPr/>
        </p:nvSpPr>
        <p:spPr>
          <a:xfrm>
            <a:off x="720000" y="1260000"/>
            <a:ext cx="5040000" cy="2880000"/>
          </a:xfrm>
          <a:prstGeom prst="rect">
            <a:avLst/>
          </a:prstGeom>
          <a:solidFill>
            <a:srgbClr val="0A1929"/>
          </a:solidFill>
        </p:spPr>
        <p:txBody>
          <a:bodyPr/>
          <a:lstStyle/>
          <a:p>
            <a:r>
              <a:rPr lang="en-US" sz="1500" b="0">
                <a:solidFill>
                  <a:srgbClr val="BBDEFB"/>
                </a:solidFill>
              </a:rPr>
              <a:t>Model Context Protocol (MCP) is IBM Bob's plugin standard — it lets Bob call our forensic tools like a human expert calling a lab.</a:t>
            </a:r>
          </a:p>
          <a:p>
            <a:endParaRPr lang="en-US" sz="1500" b="0">
              <a:solidFill>
                <a:srgbClr val="BBDEFB"/>
              </a:solidFill>
            </a:endParaRPr>
          </a:p>
          <a:p>
            <a:r>
              <a:rPr lang="en-US" sz="1500" b="0">
                <a:solidFill>
                  <a:srgbClr val="BBDEFB"/>
                </a:solidFill>
              </a:rPr>
              <a:t>Our MCP server registers 6 tools:</a:t>
            </a:r>
          </a:p>
          <a:p>
            <a:r>
              <a:rPr lang="en-US" sz="1500" b="0">
                <a:solidFill>
                  <a:srgbClr val="BBDEFB"/>
                </a:solidFill>
              </a:rPr>
              <a:t>  • analyze_document   — runs the full 5-check pipeline</a:t>
            </a:r>
          </a:p>
          <a:p>
            <a:r>
              <a:rPr lang="en-US" sz="1500" b="0">
                <a:solidFill>
                  <a:srgbClr val="BBDEFB"/>
                </a:solidFill>
              </a:rPr>
              <a:t>  • examine_case        — runs the LR evaluation engine</a:t>
            </a:r>
          </a:p>
          <a:p>
            <a:r>
              <a:rPr lang="en-US" sz="1500" b="0">
                <a:solidFill>
                  <a:srgbClr val="BBDEFB"/>
                </a:solidFill>
              </a:rPr>
              <a:t>  • render_report       — generates the court draft report</a:t>
            </a:r>
          </a:p>
          <a:p>
            <a:r>
              <a:rPr lang="en-US" sz="1500" b="0">
                <a:solidFill>
                  <a:srgbClr val="BBDEFB"/>
                </a:solidFill>
              </a:rPr>
              <a:t>  • get_checklist       — returns doc-type examination checklist</a:t>
            </a:r>
          </a:p>
          <a:p>
            <a:r>
              <a:rPr lang="en-US" sz="1500" b="0">
                <a:solidFill>
                  <a:srgbClr val="BBDEFB"/>
                </a:solidFill>
              </a:rPr>
              <a:t>  • check_standards     — maps findings to legal standards</a:t>
            </a:r>
          </a:p>
          <a:p>
            <a:r>
              <a:rPr lang="en-US" sz="1500" b="0">
                <a:solidFill>
                  <a:srgbClr val="BBDEFB"/>
                </a:solidFill>
              </a:rPr>
              <a:t>  • pdf_metadata        — deep-dives PDF revision history</a:t>
            </a:r>
          </a:p>
        </p:txBody>
      </p:sp>
      <p:sp>
        <p:nvSpPr>
          <p:cNvPr id="100056" name="BobLabel"/>
          <p:cNvSpPr txBox="1"/>
          <p:nvPr/>
        </p:nvSpPr>
        <p:spPr>
          <a:xfrm>
            <a:off x="6300000" y="936000"/>
            <a:ext cx="50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 b="1">
                <a:solidFill>
                  <a:srgbClr val="2979FF"/>
                </a:solidFill>
              </a:rPr>
              <a:t>How Bob Solves the Problem</a:t>
            </a:r>
          </a:p>
        </p:txBody>
      </p:sp>
      <p:sp>
        <p:nvSpPr>
          <p:cNvPr id="100057" name="BobFlow"/>
          <p:cNvSpPr txBox="1"/>
          <p:nvPr/>
        </p:nvSpPr>
        <p:spPr>
          <a:xfrm>
            <a:off x="6300000" y="1260000"/>
            <a:ext cx="5040000" cy="2880000"/>
          </a:xfrm>
          <a:prstGeom prst="rect">
            <a:avLst/>
          </a:prstGeom>
          <a:solidFill>
            <a:srgbClr val="0A1929"/>
          </a:solidFill>
        </p:spPr>
        <p:txBody>
          <a:bodyPr/>
          <a:lstStyle/>
          <a:p>
            <a:r>
              <a:rPr lang="en-US" sz="1500" b="0">
                <a:solidFill>
                  <a:srgbClr val="E3F2FD"/>
                </a:solidFill>
              </a:rPr>
              <a:t>1️⃣  Investigator uploads document in Bob chat</a:t>
            </a:r>
          </a:p>
          <a:p>
            <a:endParaRPr lang="en-US" sz="1500" b="0">
              <a:solidFill>
                <a:srgbClr val="E3F2FD"/>
              </a:solidFill>
            </a:endParaRPr>
          </a:p>
          <a:p>
            <a:r>
              <a:rPr lang="en-US" sz="1500" b="0">
                <a:solidFill>
                  <a:srgbClr val="E3F2FD"/>
                </a:solidFill>
              </a:rPr>
              <a:t>2️⃣  Bob calls analyze_document MCP tool → gets structured findings</a:t>
            </a:r>
          </a:p>
          <a:p>
            <a:endParaRPr lang="en-US" sz="1500" b="0">
              <a:solidFill>
                <a:srgbClr val="E3F2FD"/>
              </a:solidFill>
            </a:endParaRPr>
          </a:p>
          <a:p>
            <a:r>
              <a:rPr lang="en-US" sz="1500" b="0">
                <a:solidFill>
                  <a:srgbClr val="E3F2FD"/>
                </a:solidFill>
              </a:rPr>
              <a:t>3️⃣  Bob calls examine_case → Bayesian LR combined score</a:t>
            </a:r>
          </a:p>
          <a:p>
            <a:endParaRPr lang="en-US" sz="1500" b="0">
              <a:solidFill>
                <a:srgbClr val="E3F2FD"/>
              </a:solidFill>
            </a:endParaRPr>
          </a:p>
          <a:p>
            <a:r>
              <a:rPr lang="en-US" sz="1500" b="0">
                <a:solidFill>
                  <a:srgbClr val="E3F2FD"/>
                </a:solidFill>
              </a:rPr>
              <a:t>4️⃣  Bob calls render_report → court-ready Markdown draft</a:t>
            </a:r>
          </a:p>
          <a:p>
            <a:endParaRPr lang="en-US" sz="1500" b="0">
              <a:solidFill>
                <a:srgbClr val="E3F2FD"/>
              </a:solidFill>
            </a:endParaRPr>
          </a:p>
          <a:p>
            <a:r>
              <a:rPr lang="en-US" sz="1500" b="0">
                <a:solidFill>
                  <a:srgbClr val="E3F2FD"/>
                </a:solidFill>
              </a:rPr>
              <a:t>5️⃣  Bob presents verdict + explains each flag in plain language</a:t>
            </a:r>
          </a:p>
          <a:p>
            <a:endParaRPr lang="en-US" sz="1500" b="0">
              <a:solidFill>
                <a:srgbClr val="E3F2FD"/>
              </a:solidFill>
            </a:endParaRPr>
          </a:p>
          <a:p>
            <a:r>
              <a:rPr lang="en-US" sz="1500" b="0">
                <a:solidFill>
                  <a:srgbClr val="E3F2FD"/>
                </a:solidFill>
              </a:rPr>
              <a:t>6️⃣  Bob asks: "Do you want me to recommend further lab examinations?"</a:t>
            </a:r>
          </a:p>
        </p:txBody>
      </p:sp>
      <p:sp>
        <p:nvSpPr>
          <p:cNvPr id="100058" name="ModelsLabel"/>
          <p:cNvSpPr txBox="1"/>
          <p:nvPr/>
        </p:nvSpPr>
        <p:spPr>
          <a:xfrm>
            <a:off x="720000" y="4392000"/>
            <a:ext cx="104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D54F"/>
                </a:solidFill>
              </a:rPr>
              <a:t>AI Models Used</a:t>
            </a:r>
          </a:p>
        </p:txBody>
      </p:sp>
      <p:sp>
        <p:nvSpPr>
          <p:cNvPr id="100059" name="ModelsBody"/>
          <p:cNvSpPr txBox="1"/>
          <p:nvPr/>
        </p:nvSpPr>
        <p:spPr>
          <a:xfrm>
            <a:off x="720000" y="4680000"/>
            <a:ext cx="10440000" cy="792000"/>
          </a:xfrm>
          <a:prstGeom prst="rect">
            <a:avLst/>
          </a:prstGeom>
          <a:solidFill>
            <a:srgbClr val="1A1200"/>
          </a:solidFill>
        </p:spPr>
        <p:txBody>
          <a:bodyPr/>
          <a:lstStyle/>
          <a:p>
            <a:r>
              <a:rPr lang="en-US" sz="1400" b="0">
                <a:solidFill>
                  <a:srgbClr val="FFF9C4"/>
                </a:solidFill>
              </a:rPr>
              <a:t>IBM watsonx.ai (Granite)  —  natural language verdict generation, report polishing, legal section lookup  |  IBM Bob Agent  —  orchestrates MCP tool calls, guides examiner through checklist, answers follow-up questions  |  Custom CV models  —  ELA anomaly scorer, glyph-twin detector, noise-tile analyser (trained on CG-1050, 1,460 images)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0" name="TopAccent"/>
          <p:cNvSpPr txBox="1"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2979FF"/>
          </a:solidFill>
        </p:spPr>
        <p:txBody>
          <a:bodyPr/>
          <a:lstStyle/>
          <a:p>
            <a:endParaRPr lang="en-US" sz="600">
              <a:solidFill>
                <a:srgbClr val="2979FF"/>
              </a:solidFill>
            </a:endParaRPr>
          </a:p>
        </p:txBody>
      </p:sp>
      <p:sp>
        <p:nvSpPr>
          <p:cNvPr id="100061" name="SlideNum"/>
          <p:cNvSpPr txBox="1"/>
          <p:nvPr/>
        </p:nvSpPr>
        <p:spPr>
          <a:xfrm>
            <a:off x="10800000" y="216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2979FF"/>
                </a:solidFill>
              </a:rPr>
              <a:t>07</a:t>
            </a:r>
          </a:p>
        </p:txBody>
      </p:sp>
      <p:sp>
        <p:nvSpPr>
          <p:cNvPr id="100062" name="Title"/>
          <p:cNvSpPr txBox="1"/>
          <p:nvPr/>
        </p:nvSpPr>
        <p:spPr>
          <a:xfrm>
            <a:off x="720000" y="288000"/>
            <a:ext cx="1008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Why DocuVerity Wins</a:t>
            </a:r>
          </a:p>
        </p:txBody>
      </p:sp>
      <p:sp>
        <p:nvSpPr>
          <p:cNvPr id="100063" name="P1"/>
          <p:cNvSpPr txBox="1"/>
          <p:nvPr/>
        </p:nvSpPr>
        <p:spPr>
          <a:xfrm>
            <a:off x="720000" y="1008000"/>
            <a:ext cx="5040000" cy="792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700" b="0">
                <a:solidFill>
                  <a:srgbClr val="E3F2FD"/>
                </a:solidFill>
              </a:rPr>
              <a:t>⚡  Speed</a:t>
            </a:r>
          </a:p>
          <a:p>
            <a:r>
              <a:rPr lang="en-US" sz="1700" b="0">
                <a:solidFill>
                  <a:srgbClr val="E3F2FD"/>
                </a:solidFill>
              </a:rPr>
              <a:t>Seconds vs. days. Automated pipeline with zero manual steps.</a:t>
            </a:r>
          </a:p>
        </p:txBody>
      </p:sp>
      <p:sp>
        <p:nvSpPr>
          <p:cNvPr id="100064" name="P2"/>
          <p:cNvSpPr txBox="1"/>
          <p:nvPr/>
        </p:nvSpPr>
        <p:spPr>
          <a:xfrm>
            <a:off x="6120000" y="1008000"/>
            <a:ext cx="5400000" cy="792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700" b="0">
                <a:solidFill>
                  <a:srgbClr val="E3F2FD"/>
                </a:solidFill>
              </a:rPr>
              <a:t>⚖  Court-Admissible</a:t>
            </a:r>
          </a:p>
          <a:p>
            <a:r>
              <a:rPr lang="en-US" sz="1700" b="0">
                <a:solidFill>
                  <a:srgbClr val="E3F2FD"/>
                </a:solidFill>
              </a:rPr>
              <a:t>Likelihood Ratio framework — same standard used by fingerprint and handwriting examiners. Judges understand it.</a:t>
            </a:r>
          </a:p>
        </p:txBody>
      </p:sp>
      <p:sp>
        <p:nvSpPr>
          <p:cNvPr id="100065" name="P3"/>
          <p:cNvSpPr txBox="1"/>
          <p:nvPr/>
        </p:nvSpPr>
        <p:spPr>
          <a:xfrm>
            <a:off x="720000" y="2016000"/>
            <a:ext cx="5040000" cy="792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700" b="0">
                <a:solidFill>
                  <a:srgbClr val="E3F2FD"/>
                </a:solidFill>
              </a:rPr>
              <a:t>🔬  5-Layer Coverage</a:t>
            </a:r>
          </a:p>
          <a:p>
            <a:r>
              <a:rPr lang="en-US" sz="1700" b="0">
                <a:solidFill>
                  <a:srgbClr val="E3F2FD"/>
                </a:solidFill>
              </a:rPr>
              <a:t>Font · Signature · Paper · Ink · Metadata — every forgery vector is checked simultaneously.</a:t>
            </a:r>
          </a:p>
        </p:txBody>
      </p:sp>
      <p:sp>
        <p:nvSpPr>
          <p:cNvPr id="100066" name="P4"/>
          <p:cNvSpPr txBox="1"/>
          <p:nvPr/>
        </p:nvSpPr>
        <p:spPr>
          <a:xfrm>
            <a:off x="6120000" y="2016000"/>
            <a:ext cx="5400000" cy="792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700" b="0">
                <a:solidFill>
                  <a:srgbClr val="E3F2FD"/>
                </a:solidFill>
              </a:rPr>
              <a:t>🤖  IBM Bob Powered</a:t>
            </a:r>
          </a:p>
          <a:p>
            <a:r>
              <a:rPr lang="en-US" sz="1700" b="0">
                <a:solidFill>
                  <a:srgbClr val="E3F2FD"/>
                </a:solidFill>
              </a:rPr>
              <a:t>MCP integration makes our forensic engine callable by any Bob workflow — scalable to any agency.</a:t>
            </a:r>
          </a:p>
        </p:txBody>
      </p:sp>
      <p:sp>
        <p:nvSpPr>
          <p:cNvPr id="100067" name="P5"/>
          <p:cNvSpPr txBox="1"/>
          <p:nvPr/>
        </p:nvSpPr>
        <p:spPr>
          <a:xfrm>
            <a:off x="720000" y="3024000"/>
            <a:ext cx="5040000" cy="792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700" b="0">
                <a:solidFill>
                  <a:srgbClr val="E3F2FD"/>
                </a:solidFill>
              </a:rPr>
              <a:t>📂  Open Datasets Validated</a:t>
            </a:r>
          </a:p>
          <a:p>
            <a:r>
              <a:rPr lang="en-US" sz="1700" b="0">
                <a:solidFill>
                  <a:srgbClr val="E3F2FD"/>
                </a:solidFill>
              </a:rPr>
              <a:t>CG-1050 (1,460 images) + MIDV-2020 government IDs — not just a demo, production-tested.</a:t>
            </a:r>
          </a:p>
        </p:txBody>
      </p:sp>
      <p:sp>
        <p:nvSpPr>
          <p:cNvPr id="100068" name="P6"/>
          <p:cNvSpPr txBox="1"/>
          <p:nvPr/>
        </p:nvSpPr>
        <p:spPr>
          <a:xfrm>
            <a:off x="6120000" y="3024000"/>
            <a:ext cx="5400000" cy="792000"/>
          </a:xfrm>
          <a:prstGeom prst="rect">
            <a:avLst/>
          </a:prstGeom>
          <a:solidFill>
            <a:srgbClr val="0A2540"/>
          </a:solidFill>
        </p:spPr>
        <p:txBody>
          <a:bodyPr/>
          <a:lstStyle/>
          <a:p>
            <a:r>
              <a:rPr lang="en-US" sz="1700" b="0">
                <a:solidFill>
                  <a:srgbClr val="E3F2FD"/>
                </a:solidFill>
              </a:rPr>
              <a:t>🇮🇳  India-First Legal Mapping</a:t>
            </a:r>
          </a:p>
          <a:p>
            <a:r>
              <a:rPr lang="en-US" sz="1700" b="0">
                <a:solidFill>
                  <a:srgbClr val="E3F2FD"/>
                </a:solidFill>
              </a:rPr>
              <a:t>Auto-maps to Bhartiya Sakshya Adhiniyam 2023 — built for Indian courts from day one.</a:t>
            </a:r>
          </a:p>
        </p:txBody>
      </p:sp>
      <p:sp>
        <p:nvSpPr>
          <p:cNvPr id="100069" name="CallToAction"/>
          <p:cNvSpPr txBox="1"/>
          <p:nvPr/>
        </p:nvSpPr>
        <p:spPr>
          <a:xfrm>
            <a:off x="720000" y="4320000"/>
            <a:ext cx="1044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FFD54F"/>
                </a:solidFill>
              </a:rPr>
              <a:t>DocuVerity  —  Putting Forensic Certainty in Every Courtroom</a:t>
            </a:r>
          </a:p>
        </p:txBody>
      </p:sp>
      <p:sp>
        <p:nvSpPr>
          <p:cNvPr id="100070" name="QALine"/>
          <p:cNvSpPr txBox="1"/>
          <p:nvPr/>
        </p:nvSpPr>
        <p:spPr>
          <a:xfrm>
            <a:off x="720000" y="4860000"/>
            <a:ext cx="72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0">
                <a:solidFill>
                  <a:srgbClr val="90CAF9"/>
                </a:solidFill>
              </a:rPr>
              <a:t>Thank you  ·  Questions?</a:t>
            </a:r>
          </a:p>
        </p:txBody>
      </p:sp>
      <p:sp>
        <p:nvSpPr>
          <p:cNvPr id="100071" name="BottomAccent"/>
          <p:cNvSpPr txBox="1"/>
          <p:nvPr/>
        </p:nvSpPr>
        <p:spPr>
          <a:xfrm>
            <a:off x="0" y="6732000"/>
            <a:ext cx="12193200" cy="108000"/>
          </a:xfrm>
          <a:prstGeom prst="rect">
            <a:avLst/>
          </a:prstGeom>
          <a:solidFill>
            <a:srgbClr val="1565C0"/>
          </a:solidFill>
        </p:spPr>
        <p:txBody>
          <a:bodyPr/>
          <a:lstStyle/>
          <a:p>
            <a:endParaRPr lang="en-US" sz="600">
              <a:solidFill>
                <a:srgbClr val="1565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55469-983D-24B4-1ADD-AD639B105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0" name="TopAccent">
            <a:extLst>
              <a:ext uri="{FF2B5EF4-FFF2-40B4-BE49-F238E27FC236}">
                <a16:creationId xmlns:a16="http://schemas.microsoft.com/office/drawing/2014/main" id="{AFAA8BE6-C763-330E-6343-7CCA55E6667A}"/>
              </a:ext>
            </a:extLst>
          </p:cNvPr>
          <p:cNvSpPr txBox="1"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2979FF"/>
          </a:solidFill>
        </p:spPr>
        <p:txBody>
          <a:bodyPr/>
          <a:lstStyle/>
          <a:p>
            <a:endParaRPr lang="en-US" sz="600">
              <a:solidFill>
                <a:srgbClr val="2979FF"/>
              </a:solidFill>
            </a:endParaRPr>
          </a:p>
        </p:txBody>
      </p:sp>
      <p:sp>
        <p:nvSpPr>
          <p:cNvPr id="100061" name="SlideNum">
            <a:extLst>
              <a:ext uri="{FF2B5EF4-FFF2-40B4-BE49-F238E27FC236}">
                <a16:creationId xmlns:a16="http://schemas.microsoft.com/office/drawing/2014/main" id="{8BD77582-4452-A1A6-9CE4-AFB5F877A6EF}"/>
              </a:ext>
            </a:extLst>
          </p:cNvPr>
          <p:cNvSpPr txBox="1"/>
          <p:nvPr/>
        </p:nvSpPr>
        <p:spPr>
          <a:xfrm>
            <a:off x="10800000" y="216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2979FF"/>
                </a:solidFill>
              </a:rPr>
              <a:t>07</a:t>
            </a:r>
          </a:p>
        </p:txBody>
      </p:sp>
      <p:sp>
        <p:nvSpPr>
          <p:cNvPr id="100062" name="Title">
            <a:extLst>
              <a:ext uri="{FF2B5EF4-FFF2-40B4-BE49-F238E27FC236}">
                <a16:creationId xmlns:a16="http://schemas.microsoft.com/office/drawing/2014/main" id="{2781ED2A-B37D-BC80-73DB-41D4F05DBDF9}"/>
              </a:ext>
            </a:extLst>
          </p:cNvPr>
          <p:cNvSpPr txBox="1"/>
          <p:nvPr/>
        </p:nvSpPr>
        <p:spPr>
          <a:xfrm>
            <a:off x="720000" y="288000"/>
            <a:ext cx="10080000" cy="504000"/>
          </a:xfrm>
          <a:prstGeom prst="rect">
            <a:avLst/>
          </a:prstGeom>
          <a:noFill/>
        </p:spPr>
        <p:txBody>
          <a:bodyPr/>
          <a:lstStyle/>
          <a:p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100069" name="CallToAction">
            <a:extLst>
              <a:ext uri="{FF2B5EF4-FFF2-40B4-BE49-F238E27FC236}">
                <a16:creationId xmlns:a16="http://schemas.microsoft.com/office/drawing/2014/main" id="{024D0509-BDB7-1C43-3140-0B93C3DAC855}"/>
              </a:ext>
            </a:extLst>
          </p:cNvPr>
          <p:cNvSpPr txBox="1"/>
          <p:nvPr/>
        </p:nvSpPr>
        <p:spPr>
          <a:xfrm>
            <a:off x="720000" y="4320000"/>
            <a:ext cx="10440000" cy="468000"/>
          </a:xfrm>
          <a:prstGeom prst="rect">
            <a:avLst/>
          </a:prstGeom>
          <a:noFill/>
        </p:spPr>
        <p:txBody>
          <a:bodyPr/>
          <a:lstStyle/>
          <a:p>
            <a:endParaRPr lang="en-US" sz="2400" b="1" dirty="0">
              <a:solidFill>
                <a:srgbClr val="FFD54F"/>
              </a:solidFill>
            </a:endParaRPr>
          </a:p>
        </p:txBody>
      </p:sp>
      <p:sp>
        <p:nvSpPr>
          <p:cNvPr id="100070" name="QALine">
            <a:extLst>
              <a:ext uri="{FF2B5EF4-FFF2-40B4-BE49-F238E27FC236}">
                <a16:creationId xmlns:a16="http://schemas.microsoft.com/office/drawing/2014/main" id="{1C5BC975-F8F0-B34A-70A5-4269349A3227}"/>
              </a:ext>
            </a:extLst>
          </p:cNvPr>
          <p:cNvSpPr txBox="1"/>
          <p:nvPr/>
        </p:nvSpPr>
        <p:spPr>
          <a:xfrm>
            <a:off x="720000" y="4860000"/>
            <a:ext cx="7200000" cy="288000"/>
          </a:xfrm>
          <a:prstGeom prst="rect">
            <a:avLst/>
          </a:prstGeom>
          <a:noFill/>
        </p:spPr>
        <p:txBody>
          <a:bodyPr/>
          <a:lstStyle/>
          <a:p>
            <a:endParaRPr lang="en-US" sz="6000" b="0" dirty="0">
              <a:solidFill>
                <a:srgbClr val="90CAF9"/>
              </a:solidFill>
            </a:endParaRPr>
          </a:p>
        </p:txBody>
      </p:sp>
      <p:sp>
        <p:nvSpPr>
          <p:cNvPr id="100071" name="BottomAccent">
            <a:extLst>
              <a:ext uri="{FF2B5EF4-FFF2-40B4-BE49-F238E27FC236}">
                <a16:creationId xmlns:a16="http://schemas.microsoft.com/office/drawing/2014/main" id="{E9267E9B-840D-BD26-BBD8-220E9566F5EB}"/>
              </a:ext>
            </a:extLst>
          </p:cNvPr>
          <p:cNvSpPr txBox="1"/>
          <p:nvPr/>
        </p:nvSpPr>
        <p:spPr>
          <a:xfrm>
            <a:off x="0" y="6732000"/>
            <a:ext cx="12193200" cy="108000"/>
          </a:xfrm>
          <a:prstGeom prst="rect">
            <a:avLst/>
          </a:prstGeom>
          <a:solidFill>
            <a:srgbClr val="1565C0"/>
          </a:solidFill>
        </p:spPr>
        <p:txBody>
          <a:bodyPr/>
          <a:lstStyle/>
          <a:p>
            <a:endParaRPr lang="en-US" sz="600">
              <a:solidFill>
                <a:srgbClr val="1565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356F7-B908-7BB2-4CE2-19345D4712D1}"/>
              </a:ext>
            </a:extLst>
          </p:cNvPr>
          <p:cNvSpPr txBox="1"/>
          <p:nvPr/>
        </p:nvSpPr>
        <p:spPr>
          <a:xfrm>
            <a:off x="4060724" y="251233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0" dirty="0">
                <a:solidFill>
                  <a:srgbClr val="90CAF9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803585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1244</Words>
  <Application>Microsoft Office PowerPoint</Application>
  <PresentationFormat>Widescreen</PresentationFormat>
  <Paragraphs>146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MR. EVIL</cp:lastModifiedBy>
  <cp:revision>3</cp:revision>
  <dcterms:created xsi:type="dcterms:W3CDTF">2026-09-28T09:08:49Z</dcterms:created>
  <dcterms:modified xsi:type="dcterms:W3CDTF">2026-09-28T09:18:30Z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1.0.144</vt:lpwstr>
  </property>
  <property fmtid="{D5CDD505-2E9C-101B-9397-08002B2CF9AE}" pid="3" name="OfficeCLI.LastModified">
    <vt:lpwstr>2026-09-28T09:08:55Z</vt:lpwstr>
  </property>
</Properties>
</file>